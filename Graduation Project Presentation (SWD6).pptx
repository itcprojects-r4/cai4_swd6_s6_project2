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B7321F-2DEA-41BA-B08E-BCD0B1FD83B6}" v="9" dt="2026-06-28T17:12:31.530"/>
    <p1510:client id="{A2B2752C-7271-2A32-2E3F-8C76E84156E0}" v="10" dt="2026-06-28T03:16:17.235"/>
    <p1510:client id="{CCF41FD4-C259-4E72-9572-47E40B51C539}" v="685" dt="2026-06-28T01:06:21.707"/>
    <p1510:client id="{F12BF2B2-6708-4C74-B9CA-DA8E034E642F}" v="33" dt="2026-06-28T05:53:09.0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1" d="100"/>
          <a:sy n="91" d="100"/>
        </p:scale>
        <p:origin x="70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6710E2B4D00950DC/ITC_DarkTech_Template%20(1)_Doughnut.xlsx" TargetMode="External"/><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6710E2B4D00950DC/ITC_DarkTech_Template%20(1)_ColumnStacked.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Results</c:v>
                </c:pt>
              </c:strCache>
            </c:strRef>
          </c:tx>
          <c:spPr>
            <a:solidFill>
              <a:schemeClr val="accent1"/>
            </a:solidFill>
            <a:ln w="9525" cap="flat">
              <a:solidFill>
                <a:srgbClr val="F9F9F9"/>
              </a:solidFill>
              <a:prstDash val="solid"/>
              <a:round/>
            </a:ln>
            <a:effectLst/>
          </c:spPr>
          <c:dPt>
            <c:idx val="0"/>
            <c:bubble3D val="0"/>
            <c:spPr>
              <a:solidFill>
                <a:srgbClr val="00E676"/>
              </a:solidFill>
              <a:effectLst/>
            </c:spPr>
            <c:extLst>
              <c:ext xmlns:c16="http://schemas.microsoft.com/office/drawing/2014/chart" uri="{C3380CC4-5D6E-409C-BE32-E72D297353CC}">
                <c16:uniqueId val="{00000001-EBF6-457D-A62C-0858C2DD3E50}"/>
              </c:ext>
            </c:extLst>
          </c:dPt>
          <c:dPt>
            <c:idx val="1"/>
            <c:bubble3D val="0"/>
            <c:spPr>
              <a:solidFill>
                <a:srgbClr val="FF5252"/>
              </a:solidFill>
              <a:effectLst/>
            </c:spPr>
            <c:extLst>
              <c:ext xmlns:c16="http://schemas.microsoft.com/office/drawing/2014/chart" uri="{C3380CC4-5D6E-409C-BE32-E72D297353CC}">
                <c16:uniqueId val="{00000003-EBF6-457D-A62C-0858C2DD3E50}"/>
              </c:ext>
            </c:extLst>
          </c:dPt>
          <c:dLbls>
            <c:dLbl>
              <c:idx val="0"/>
              <c:numFmt formatCode="0%" sourceLinked="0"/>
              <c:spPr/>
              <c:txPr>
                <a:bodyPr/>
                <a:lstStyle/>
                <a:p>
                  <a:pPr>
                    <a:defRPr sz="10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EBF6-457D-A62C-0858C2DD3E50}"/>
                </c:ext>
              </c:extLst>
            </c:dLbl>
            <c:dLbl>
              <c:idx val="1"/>
              <c:numFmt formatCode="0%" sourceLinked="0"/>
              <c:spPr/>
              <c:txPr>
                <a:bodyPr/>
                <a:lstStyle/>
                <a:p>
                  <a:pPr>
                    <a:defRPr sz="10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EBF6-457D-A62C-0858C2DD3E50}"/>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Passed</c:v>
                </c:pt>
                <c:pt idx="1">
                  <c:v>Failed</c:v>
                </c:pt>
              </c:strCache>
            </c:strRef>
          </c:cat>
          <c:val>
            <c:numRef>
              <c:f>Sheet1!$B$2:$B$3</c:f>
              <c:numCache>
                <c:formatCode>General</c:formatCode>
                <c:ptCount val="2"/>
                <c:pt idx="0">
                  <c:v>186</c:v>
                </c:pt>
                <c:pt idx="1">
                  <c:v>63</c:v>
                </c:pt>
              </c:numCache>
            </c:numRef>
          </c:val>
          <c:extLst>
            <c:ext xmlns:c16="http://schemas.microsoft.com/office/drawing/2014/chart" uri="{C3380CC4-5D6E-409C-BE32-E72D297353CC}">
              <c16:uniqueId val="{00000004-EBF6-457D-A62C-0858C2DD3E50}"/>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r"/>
      <c:overlay val="0"/>
      <c:txPr>
        <a:bodyPr/>
        <a:lstStyle/>
        <a:p>
          <a:pPr>
            <a:defRPr sz="1000"/>
          </a:pPr>
          <a:endParaRPr lang="en-US"/>
        </a:p>
      </c:txPr>
    </c:legend>
    <c:plotVisOnly val="1"/>
    <c:dispBlanksAs val="span"/>
    <c:showDLblsOverMax val="1"/>
  </c:chart>
  <c:spPr>
    <a:solidFill>
      <a:srgbClr val="0A0E1A"/>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99E0-4064-A5DC-C995FEB5DF15}"/>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99E0-4064-A5DC-C995FEB5DF15}"/>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99E0-4064-A5DC-C995FEB5DF15}"/>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99E0-4064-A5DC-C995FEB5DF15}"/>
              </c:ext>
            </c:extLst>
          </c:dPt>
          <c:cat>
            <c:strRef>
              <c:f>Sheet1!$A$2:$A$5</c:f>
              <c:strCache>
                <c:ptCount val="2"/>
                <c:pt idx="0">
                  <c:v>1st Qtr</c:v>
                </c:pt>
                <c:pt idx="1">
                  <c:v>2nd Qtr</c:v>
                </c:pt>
              </c:strCache>
            </c:strRef>
          </c:cat>
          <c:val>
            <c:numRef>
              <c:f>Sheet1!$B$2:$B$5</c:f>
              <c:numCache>
                <c:formatCode>General</c:formatCode>
                <c:ptCount val="4"/>
                <c:pt idx="0">
                  <c:v>330</c:v>
                </c:pt>
                <c:pt idx="1">
                  <c:v>4</c:v>
                </c:pt>
              </c:numCache>
            </c:numRef>
          </c:val>
          <c:extLst>
            <c:ext xmlns:c16="http://schemas.microsoft.com/office/drawing/2014/chart" uri="{C3380CC4-5D6E-409C-BE32-E72D297353CC}">
              <c16:uniqueId val="{00000000-FE82-42C4-B55E-71A1A68D51B4}"/>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Test Results</c:v>
                </c:pt>
              </c:strCache>
            </c:strRef>
          </c:tx>
          <c:spPr>
            <a:solidFill>
              <a:srgbClr val="00E676"/>
            </a:solidFill>
            <a:effectLst/>
          </c:spPr>
          <c:invertIfNegative val="0"/>
          <c:dPt>
            <c:idx val="0"/>
            <c:invertIfNegative val="0"/>
            <c:bubble3D val="0"/>
            <c:extLst>
              <c:ext xmlns:c16="http://schemas.microsoft.com/office/drawing/2014/chart" uri="{C3380CC4-5D6E-409C-BE32-E72D297353CC}">
                <c16:uniqueId val="{00000001-3B2E-4AE9-AFA4-1B6F51D2C955}"/>
              </c:ext>
            </c:extLst>
          </c:dPt>
          <c:dPt>
            <c:idx val="1"/>
            <c:invertIfNegative val="0"/>
            <c:bubble3D val="0"/>
            <c:spPr>
              <a:solidFill>
                <a:srgbClr val="FF5252"/>
              </a:solidFill>
              <a:effectLst/>
            </c:spPr>
            <c:extLst>
              <c:ext xmlns:c16="http://schemas.microsoft.com/office/drawing/2014/chart" uri="{C3380CC4-5D6E-409C-BE32-E72D297353CC}">
                <c16:uniqueId val="{00000003-3B2E-4AE9-AFA4-1B6F51D2C955}"/>
              </c:ext>
            </c:extLst>
          </c:dPt>
          <c:dPt>
            <c:idx val="2"/>
            <c:invertIfNegative val="0"/>
            <c:bubble3D val="0"/>
            <c:spPr>
              <a:solidFill>
                <a:srgbClr val="FFB300"/>
              </a:solidFill>
              <a:effectLst/>
            </c:spPr>
            <c:extLst>
              <c:ext xmlns:c16="http://schemas.microsoft.com/office/drawing/2014/chart" uri="{C3380CC4-5D6E-409C-BE32-E72D297353CC}">
                <c16:uniqueId val="{00000005-3B2E-4AE9-AFA4-1B6F51D2C955}"/>
              </c:ext>
            </c:extLst>
          </c:dPt>
          <c:dLbls>
            <c:numFmt formatCode="#,##0" sourceLinked="0"/>
            <c:spPr>
              <a:noFill/>
              <a:ln>
                <a:noFill/>
              </a:ln>
              <a:effectLst/>
            </c:spPr>
            <c:txPr>
              <a:bodyPr/>
              <a:lstStyle/>
              <a:p>
                <a:pPr>
                  <a:defRPr sz="1200" b="0" i="0" u="none" strike="noStrike">
                    <a:solidFill>
                      <a:srgbClr val="F1F5F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Passed</c:v>
                </c:pt>
                <c:pt idx="1">
                  <c:v>Failed</c:v>
                </c:pt>
                <c:pt idx="2">
                  <c:v>Bugs</c:v>
                </c:pt>
              </c:strCache>
            </c:strRef>
          </c:cat>
          <c:val>
            <c:numRef>
              <c:f>Sheet1!$B$2:$B$4</c:f>
              <c:numCache>
                <c:formatCode>General</c:formatCode>
                <c:ptCount val="3"/>
                <c:pt idx="0">
                  <c:v>186</c:v>
                </c:pt>
                <c:pt idx="1">
                  <c:v>63</c:v>
                </c:pt>
                <c:pt idx="2">
                  <c:v>76</c:v>
                </c:pt>
              </c:numCache>
            </c:numRef>
          </c:val>
          <c:extLst>
            <c:ext xmlns:c16="http://schemas.microsoft.com/office/drawing/2014/chart" uri="{C3380CC4-5D6E-409C-BE32-E72D297353CC}">
              <c16:uniqueId val="{00000006-3B2E-4AE9-AFA4-1B6F51D2C95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892A4"/>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1E2D4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892A4"/>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0A0E1A"/>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Pass/Fail</c:v>
                </c:pt>
              </c:strCache>
            </c:strRef>
          </c:tx>
          <c:spPr>
            <a:solidFill>
              <a:schemeClr val="accent1"/>
            </a:solidFill>
            <a:ln w="9525" cap="flat">
              <a:solidFill>
                <a:srgbClr val="F9F9F9"/>
              </a:solidFill>
              <a:prstDash val="solid"/>
              <a:round/>
            </a:ln>
            <a:effectLst/>
          </c:spPr>
          <c:dPt>
            <c:idx val="0"/>
            <c:bubble3D val="0"/>
            <c:spPr>
              <a:solidFill>
                <a:srgbClr val="00E676"/>
              </a:solidFill>
              <a:effectLst/>
            </c:spPr>
            <c:extLst>
              <c:ext xmlns:c16="http://schemas.microsoft.com/office/drawing/2014/chart" uri="{C3380CC4-5D6E-409C-BE32-E72D297353CC}">
                <c16:uniqueId val="{00000001-A8FC-4C36-872A-0319713CEDE8}"/>
              </c:ext>
            </c:extLst>
          </c:dPt>
          <c:dPt>
            <c:idx val="1"/>
            <c:bubble3D val="0"/>
            <c:spPr>
              <a:solidFill>
                <a:srgbClr val="FF5252"/>
              </a:solidFill>
              <a:effectLst/>
            </c:spPr>
            <c:extLst>
              <c:ext xmlns:c16="http://schemas.microsoft.com/office/drawing/2014/chart" uri="{C3380CC4-5D6E-409C-BE32-E72D297353CC}">
                <c16:uniqueId val="{00000003-A8FC-4C36-872A-0319713CEDE8}"/>
              </c:ext>
            </c:extLst>
          </c:dPt>
          <c:dLbls>
            <c:dLbl>
              <c:idx val="0"/>
              <c:numFmt formatCode="0%" sourceLinked="0"/>
              <c:spPr/>
              <c:txPr>
                <a:bodyPr/>
                <a:lstStyle/>
                <a:p>
                  <a:pPr>
                    <a:defRPr sz="11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A8FC-4C36-872A-0319713CEDE8}"/>
                </c:ext>
              </c:extLst>
            </c:dLbl>
            <c:dLbl>
              <c:idx val="1"/>
              <c:numFmt formatCode="0%" sourceLinked="0"/>
              <c:spPr/>
              <c:txPr>
                <a:bodyPr/>
                <a:lstStyle/>
                <a:p>
                  <a:pPr>
                    <a:defRPr sz="11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A8FC-4C36-872A-0319713CEDE8}"/>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Passed (74.7%)</c:v>
                </c:pt>
                <c:pt idx="1">
                  <c:v>Failed (25.3%)</c:v>
                </c:pt>
              </c:strCache>
            </c:strRef>
          </c:cat>
          <c:val>
            <c:numRef>
              <c:f>Sheet1!$B$2:$B$3</c:f>
              <c:numCache>
                <c:formatCode>General</c:formatCode>
                <c:ptCount val="2"/>
                <c:pt idx="0">
                  <c:v>186</c:v>
                </c:pt>
                <c:pt idx="1">
                  <c:v>63</c:v>
                </c:pt>
              </c:numCache>
            </c:numRef>
          </c:val>
          <c:extLst>
            <c:ext xmlns:c16="http://schemas.microsoft.com/office/drawing/2014/chart" uri="{C3380CC4-5D6E-409C-BE32-E72D297353CC}">
              <c16:uniqueId val="{00000004-A8FC-4C36-872A-0319713CEDE8}"/>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0A0E1A"/>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stack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52D8-4129-AAE0-225E8DE1ECC6}"/>
            </c:ext>
          </c:extLst>
        </c:ser>
        <c:ser>
          <c:idx val="1"/>
          <c:order val="1"/>
          <c:tx>
            <c:strRef>
              <c:f>Sheet1!$C$1</c:f>
              <c:strCache>
                <c:ptCount val="1"/>
                <c:pt idx="0">
                  <c:v>Series 2</c:v>
                </c:pt>
              </c:strCache>
            </c:strRef>
          </c:tx>
          <c:spPr>
            <a:solidFill>
              <a:schemeClr val="accent2"/>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52D8-4129-AAE0-225E8DE1ECC6}"/>
            </c:ext>
          </c:extLst>
        </c:ser>
        <c:ser>
          <c:idx val="2"/>
          <c:order val="2"/>
          <c:tx>
            <c:strRef>
              <c:f>Sheet1!$D$1</c:f>
              <c:strCache>
                <c:ptCount val="1"/>
                <c:pt idx="0">
                  <c:v>Series 3</c:v>
                </c:pt>
              </c:strCache>
            </c:strRef>
          </c:tx>
          <c:spPr>
            <a:solidFill>
              <a:schemeClr val="accent3"/>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52D8-4129-AAE0-225E8DE1ECC6}"/>
            </c:ext>
          </c:extLst>
        </c:ser>
        <c:dLbls>
          <c:showLegendKey val="0"/>
          <c:showVal val="0"/>
          <c:showCatName val="0"/>
          <c:showSerName val="0"/>
          <c:showPercent val="0"/>
          <c:showBubbleSize val="0"/>
        </c:dLbls>
        <c:gapWidth val="150"/>
        <c:overlap val="100"/>
        <c:axId val="1483885343"/>
        <c:axId val="1483888223"/>
      </c:barChart>
      <c:catAx>
        <c:axId val="14838853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483888223"/>
        <c:crosses val="autoZero"/>
        <c:auto val="1"/>
        <c:lblAlgn val="ctr"/>
        <c:lblOffset val="100"/>
        <c:noMultiLvlLbl val="0"/>
      </c:catAx>
      <c:valAx>
        <c:axId val="148388822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48388534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924135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chart" Target="../charts/chart2.xml"/><Relationship Id="rId5" Type="http://schemas.openxmlformats.org/officeDocument/2006/relationships/chart" Target="../charts/char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chart" Target="../charts/chart5.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63FF"/>
          </a:solidFill>
          <a:ln w="12700">
            <a:solidFill>
              <a:srgbClr val="6C63FF"/>
            </a:solidFill>
            <a:prstDash val="solid"/>
          </a:ln>
        </p:spPr>
      </p:sp>
      <p:sp>
        <p:nvSpPr>
          <p:cNvPr id="3" name="Shape 1"/>
          <p:cNvSpPr/>
          <p:nvPr/>
        </p:nvSpPr>
        <p:spPr>
          <a:xfrm>
            <a:off x="7132320" y="-548640"/>
            <a:ext cx="2560320" cy="2560320"/>
          </a:xfrm>
          <a:prstGeom prst="ellipse">
            <a:avLst/>
          </a:prstGeom>
          <a:solidFill>
            <a:srgbClr val="6C63FF">
              <a:alpha val="15000"/>
            </a:srgbClr>
          </a:solidFill>
          <a:ln w="12700">
            <a:solidFill>
              <a:srgbClr val="6C63FF"/>
            </a:solidFill>
            <a:prstDash val="solid"/>
          </a:ln>
        </p:spPr>
      </p:sp>
      <p:sp>
        <p:nvSpPr>
          <p:cNvPr id="4" name="Shape 2"/>
          <p:cNvSpPr/>
          <p:nvPr/>
        </p:nvSpPr>
        <p:spPr>
          <a:xfrm>
            <a:off x="7772400" y="-182880"/>
            <a:ext cx="1463040" cy="1463040"/>
          </a:xfrm>
          <a:prstGeom prst="ellipse">
            <a:avLst/>
          </a:prstGeom>
          <a:solidFill>
            <a:srgbClr val="4FC3F7">
              <a:alpha val="20000"/>
            </a:srgbClr>
          </a:solidFill>
          <a:ln w="12700">
            <a:solidFill>
              <a:srgbClr val="4FC3F7"/>
            </a:solidFill>
            <a:prstDash val="solid"/>
          </a:ln>
        </p:spPr>
      </p:sp>
      <p:sp>
        <p:nvSpPr>
          <p:cNvPr id="5" name="Shape 3"/>
          <p:cNvSpPr/>
          <p:nvPr/>
        </p:nvSpPr>
        <p:spPr>
          <a:xfrm>
            <a:off x="-457200" y="3840480"/>
            <a:ext cx="2011680" cy="2011680"/>
          </a:xfrm>
          <a:prstGeom prst="ellipse">
            <a:avLst/>
          </a:prstGeom>
          <a:solidFill>
            <a:srgbClr val="4FC3F7">
              <a:alpha val="12000"/>
            </a:srgbClr>
          </a:solidFill>
          <a:ln w="12700">
            <a:solidFill>
              <a:srgbClr val="4FC3F7"/>
            </a:solidFill>
            <a:prstDash val="solid"/>
          </a:ln>
        </p:spPr>
      </p:sp>
      <p:sp>
        <p:nvSpPr>
          <p:cNvPr id="6" name="Shape 4"/>
          <p:cNvSpPr/>
          <p:nvPr/>
        </p:nvSpPr>
        <p:spPr>
          <a:xfrm>
            <a:off x="548640" y="2468880"/>
            <a:ext cx="4114800" cy="0"/>
          </a:xfrm>
          <a:prstGeom prst="line">
            <a:avLst/>
          </a:prstGeom>
          <a:noFill/>
          <a:ln w="19050">
            <a:solidFill>
              <a:srgbClr val="6C63FF"/>
            </a:solidFill>
            <a:prstDash val="solid"/>
          </a:ln>
        </p:spPr>
      </p:sp>
      <p:pic>
        <p:nvPicPr>
          <p:cNvPr id="7" name="Image 0" descr="preencoded.png"/>
          <p:cNvPicPr>
            <a:picLocks noChangeAspect="1"/>
          </p:cNvPicPr>
          <p:nvPr/>
        </p:nvPicPr>
        <p:blipFill>
          <a:blip r:embed="rId3"/>
          <a:stretch>
            <a:fillRect/>
          </a:stretch>
        </p:blipFill>
        <p:spPr>
          <a:xfrm>
            <a:off x="109728" y="73152"/>
            <a:ext cx="658368" cy="658368"/>
          </a:xfrm>
          <a:prstGeom prst="ellipse">
            <a:avLst/>
          </a:prstGeom>
        </p:spPr>
      </p:pic>
      <p:pic>
        <p:nvPicPr>
          <p:cNvPr id="8" name="Image 1" descr="preencoded.png"/>
          <p:cNvPicPr>
            <a:picLocks noChangeAspect="1"/>
          </p:cNvPicPr>
          <p:nvPr/>
        </p:nvPicPr>
        <p:blipFill>
          <a:blip r:embed="rId4"/>
          <a:stretch>
            <a:fillRect/>
          </a:stretch>
        </p:blipFill>
        <p:spPr>
          <a:xfrm>
            <a:off x="8375904" y="73152"/>
            <a:ext cx="658368" cy="658368"/>
          </a:xfrm>
          <a:prstGeom prst="rect">
            <a:avLst/>
          </a:prstGeom>
        </p:spPr>
      </p:pic>
      <p:sp>
        <p:nvSpPr>
          <p:cNvPr id="9" name="Text 5"/>
          <p:cNvSpPr/>
          <p:nvPr/>
        </p:nvSpPr>
        <p:spPr>
          <a:xfrm>
            <a:off x="914400" y="320040"/>
            <a:ext cx="7315200" cy="365760"/>
          </a:xfrm>
          <a:prstGeom prst="rect">
            <a:avLst/>
          </a:prstGeom>
          <a:noFill/>
          <a:ln/>
        </p:spPr>
        <p:txBody>
          <a:bodyPr wrap="square" rtlCol="0" anchor="ctr"/>
          <a:lstStyle/>
          <a:p>
            <a:pPr marL="0" indent="0">
              <a:buNone/>
            </a:pPr>
            <a:r>
              <a:rPr lang="en-US" sz="1100" kern="0" spc="300" dirty="0">
                <a:solidFill>
                  <a:srgbClr val="4FC3F7"/>
                </a:solidFill>
                <a:latin typeface="Calibri" pitchFamily="34" charset="0"/>
                <a:ea typeface="Calibri" pitchFamily="34" charset="-122"/>
                <a:cs typeface="Calibri" pitchFamily="34" charset="-120"/>
              </a:rPr>
              <a:t>ITC — Information Technology Colleague</a:t>
            </a:r>
            <a:endParaRPr lang="en-US" sz="1100" dirty="0"/>
          </a:p>
        </p:txBody>
      </p:sp>
      <p:sp>
        <p:nvSpPr>
          <p:cNvPr id="10" name="Text 6"/>
          <p:cNvSpPr/>
          <p:nvPr/>
        </p:nvSpPr>
        <p:spPr>
          <a:xfrm>
            <a:off x="914400" y="658368"/>
            <a:ext cx="4572000" cy="320040"/>
          </a:xfrm>
          <a:prstGeom prst="rect">
            <a:avLst/>
          </a:prstGeom>
          <a:noFill/>
          <a:ln/>
        </p:spPr>
        <p:txBody>
          <a:bodyPr wrap="square" rtlCol="0" anchor="ctr"/>
          <a:lstStyle/>
          <a:p>
            <a:pPr marL="0" indent="0">
              <a:buNone/>
            </a:pPr>
            <a:r>
              <a:rPr lang="en-US" sz="1100" dirty="0">
                <a:solidFill>
                  <a:srgbClr val="8892A4"/>
                </a:solidFill>
                <a:latin typeface="Calibri" pitchFamily="34" charset="0"/>
                <a:ea typeface="Calibri" pitchFamily="34" charset="-122"/>
                <a:cs typeface="Calibri" pitchFamily="34" charset="-120"/>
              </a:rPr>
              <a:t>رواد مصر الرقمية</a:t>
            </a:r>
            <a:endParaRPr lang="en-US" sz="1100" dirty="0"/>
          </a:p>
        </p:txBody>
      </p:sp>
      <p:sp>
        <p:nvSpPr>
          <p:cNvPr id="11" name="Text 7"/>
          <p:cNvSpPr/>
          <p:nvPr/>
        </p:nvSpPr>
        <p:spPr>
          <a:xfrm>
            <a:off x="548640" y="1051560"/>
            <a:ext cx="7772400" cy="777240"/>
          </a:xfrm>
          <a:prstGeom prst="rect">
            <a:avLst/>
          </a:prstGeom>
          <a:noFill/>
          <a:ln/>
        </p:spPr>
        <p:txBody>
          <a:bodyPr wrap="square" rtlCol="0" anchor="ctr"/>
          <a:lstStyle/>
          <a:p>
            <a:pPr marL="0" indent="0">
              <a:buNone/>
            </a:pPr>
            <a:r>
              <a:rPr lang="en-US" sz="5800" b="1" kern="0" spc="200" dirty="0">
                <a:solidFill>
                  <a:srgbClr val="F1F5FB"/>
                </a:solidFill>
                <a:latin typeface="Calibri" pitchFamily="34" charset="0"/>
                <a:ea typeface="Calibri" pitchFamily="34" charset="-122"/>
                <a:cs typeface="Calibri" pitchFamily="34" charset="-120"/>
              </a:rPr>
              <a:t>GRADUATION</a:t>
            </a:r>
            <a:endParaRPr lang="en-US" sz="5800" dirty="0"/>
          </a:p>
        </p:txBody>
      </p:sp>
      <p:sp>
        <p:nvSpPr>
          <p:cNvPr id="12" name="Text 8"/>
          <p:cNvSpPr/>
          <p:nvPr/>
        </p:nvSpPr>
        <p:spPr>
          <a:xfrm>
            <a:off x="548640" y="1755648"/>
            <a:ext cx="7772400" cy="777240"/>
          </a:xfrm>
          <a:prstGeom prst="rect">
            <a:avLst/>
          </a:prstGeom>
          <a:noFill/>
          <a:ln/>
        </p:spPr>
        <p:txBody>
          <a:bodyPr wrap="square" rtlCol="0" anchor="ctr"/>
          <a:lstStyle/>
          <a:p>
            <a:pPr marL="0" indent="0">
              <a:buNone/>
            </a:pPr>
            <a:r>
              <a:rPr lang="en-US" sz="5800" b="1" kern="0" spc="200" dirty="0">
                <a:solidFill>
                  <a:srgbClr val="6C63FF"/>
                </a:solidFill>
                <a:latin typeface="Calibri" pitchFamily="34" charset="0"/>
                <a:ea typeface="Calibri" pitchFamily="34" charset="-122"/>
                <a:cs typeface="Calibri" pitchFamily="34" charset="-120"/>
              </a:rPr>
              <a:t>PROJECT</a:t>
            </a:r>
            <a:endParaRPr lang="en-US" sz="5800" dirty="0"/>
          </a:p>
        </p:txBody>
      </p:sp>
      <p:sp>
        <p:nvSpPr>
          <p:cNvPr id="13" name="Text 9"/>
          <p:cNvSpPr/>
          <p:nvPr/>
        </p:nvSpPr>
        <p:spPr>
          <a:xfrm>
            <a:off x="548640" y="2651760"/>
            <a:ext cx="5486400" cy="411480"/>
          </a:xfrm>
          <a:prstGeom prst="rect">
            <a:avLst/>
          </a:prstGeom>
          <a:noFill/>
          <a:ln/>
        </p:spPr>
        <p:txBody>
          <a:bodyPr wrap="square" rtlCol="0" anchor="ctr"/>
          <a:lstStyle/>
          <a:p>
            <a:pPr marL="0" indent="0">
              <a:buNone/>
            </a:pPr>
            <a:r>
              <a:rPr lang="en-US" sz="1400" kern="0" spc="100" dirty="0">
                <a:solidFill>
                  <a:srgbClr val="8892A4"/>
                </a:solidFill>
                <a:latin typeface="Calibri" pitchFamily="34" charset="0"/>
                <a:ea typeface="Calibri" pitchFamily="34" charset="-122"/>
                <a:cs typeface="Calibri" pitchFamily="34" charset="-120"/>
              </a:rPr>
              <a:t>Powerful  •  Modern  •  Premium</a:t>
            </a:r>
            <a:endParaRPr lang="en-US" sz="1400" dirty="0"/>
          </a:p>
        </p:txBody>
      </p:sp>
      <p:sp>
        <p:nvSpPr>
          <p:cNvPr id="14" name="Shape 10"/>
          <p:cNvSpPr/>
          <p:nvPr/>
        </p:nvSpPr>
        <p:spPr>
          <a:xfrm>
            <a:off x="548640" y="4187952"/>
            <a:ext cx="1828800" cy="365760"/>
          </a:xfrm>
          <a:prstGeom prst="roundRect">
            <a:avLst>
              <a:gd name="adj" fmla="val 12500"/>
            </a:avLst>
          </a:prstGeom>
          <a:solidFill>
            <a:srgbClr val="6C63FF">
              <a:alpha val="20000"/>
            </a:srgbClr>
          </a:solidFill>
          <a:ln w="12700">
            <a:solidFill>
              <a:srgbClr val="6C63FF"/>
            </a:solidFill>
            <a:prstDash val="solid"/>
          </a:ln>
        </p:spPr>
      </p:sp>
      <p:sp>
        <p:nvSpPr>
          <p:cNvPr id="15" name="Text 11"/>
          <p:cNvSpPr/>
          <p:nvPr/>
        </p:nvSpPr>
        <p:spPr>
          <a:xfrm>
            <a:off x="548640" y="4187952"/>
            <a:ext cx="1828800" cy="365760"/>
          </a:xfrm>
          <a:prstGeom prst="rect">
            <a:avLst/>
          </a:prstGeom>
          <a:noFill/>
          <a:ln/>
        </p:spPr>
        <p:txBody>
          <a:bodyPr wrap="square" rtlCol="0" anchor="ctr"/>
          <a:lstStyle/>
          <a:p>
            <a:pPr marL="0" indent="0" algn="ctr">
              <a:buNone/>
            </a:pPr>
            <a:r>
              <a:rPr lang="en-US" sz="1100" b="1" dirty="0">
                <a:solidFill>
                  <a:srgbClr val="6C63FF"/>
                </a:solidFill>
                <a:latin typeface="Calibri" pitchFamily="34" charset="0"/>
                <a:ea typeface="Calibri" pitchFamily="34" charset="-122"/>
                <a:cs typeface="Calibri" pitchFamily="34" charset="-120"/>
              </a:rPr>
              <a:t>Testing</a:t>
            </a:r>
            <a:endParaRPr lang="en-US" sz="1100" dirty="0"/>
          </a:p>
        </p:txBody>
      </p:sp>
      <p:sp>
        <p:nvSpPr>
          <p:cNvPr id="16" name="Shape 12"/>
          <p:cNvSpPr/>
          <p:nvPr/>
        </p:nvSpPr>
        <p:spPr>
          <a:xfrm>
            <a:off x="2651760" y="4187952"/>
            <a:ext cx="1828800" cy="365760"/>
          </a:xfrm>
          <a:prstGeom prst="roundRect">
            <a:avLst>
              <a:gd name="adj" fmla="val 12500"/>
            </a:avLst>
          </a:prstGeom>
          <a:solidFill>
            <a:srgbClr val="4FC3F7">
              <a:alpha val="20000"/>
            </a:srgbClr>
          </a:solidFill>
          <a:ln w="12700">
            <a:solidFill>
              <a:srgbClr val="4FC3F7"/>
            </a:solidFill>
            <a:prstDash val="solid"/>
          </a:ln>
        </p:spPr>
      </p:sp>
      <p:sp>
        <p:nvSpPr>
          <p:cNvPr id="17" name="Text 13"/>
          <p:cNvSpPr/>
          <p:nvPr/>
        </p:nvSpPr>
        <p:spPr>
          <a:xfrm>
            <a:off x="2651760" y="4187952"/>
            <a:ext cx="1828800" cy="365760"/>
          </a:xfrm>
          <a:prstGeom prst="rect">
            <a:avLst/>
          </a:prstGeom>
          <a:noFill/>
          <a:ln/>
        </p:spPr>
        <p:txBody>
          <a:bodyPr wrap="square" rtlCol="0" anchor="ctr"/>
          <a:lstStyle/>
          <a:p>
            <a:pPr marL="0" indent="0" algn="ctr">
              <a:buNone/>
            </a:pPr>
            <a:r>
              <a:rPr lang="en-US" sz="1100" b="1" dirty="0">
                <a:solidFill>
                  <a:srgbClr val="4FC3F7"/>
                </a:solidFill>
                <a:latin typeface="Calibri" pitchFamily="34" charset="0"/>
                <a:ea typeface="Calibri" pitchFamily="34" charset="-122"/>
                <a:cs typeface="Calibri" pitchFamily="34" charset="-120"/>
              </a:rPr>
              <a:t>QA Engineering</a:t>
            </a:r>
            <a:endParaRPr lang="en-US" sz="1100" dirty="0"/>
          </a:p>
        </p:txBody>
      </p:sp>
      <p:sp>
        <p:nvSpPr>
          <p:cNvPr id="18" name="Shape 14"/>
          <p:cNvSpPr/>
          <p:nvPr/>
        </p:nvSpPr>
        <p:spPr>
          <a:xfrm>
            <a:off x="4754880" y="4187952"/>
            <a:ext cx="1828800" cy="365760"/>
          </a:xfrm>
          <a:prstGeom prst="roundRect">
            <a:avLst>
              <a:gd name="adj" fmla="val 12500"/>
            </a:avLst>
          </a:prstGeom>
          <a:solidFill>
            <a:srgbClr val="00E676">
              <a:alpha val="20000"/>
            </a:srgbClr>
          </a:solidFill>
          <a:ln w="12700">
            <a:solidFill>
              <a:srgbClr val="00E676"/>
            </a:solidFill>
            <a:prstDash val="solid"/>
          </a:ln>
        </p:spPr>
      </p:sp>
      <p:sp>
        <p:nvSpPr>
          <p:cNvPr id="19" name="Text 15"/>
          <p:cNvSpPr/>
          <p:nvPr/>
        </p:nvSpPr>
        <p:spPr>
          <a:xfrm>
            <a:off x="4754880" y="4187952"/>
            <a:ext cx="1828800" cy="365760"/>
          </a:xfrm>
          <a:prstGeom prst="rect">
            <a:avLst/>
          </a:prstGeom>
          <a:noFill/>
          <a:ln/>
        </p:spPr>
        <p:txBody>
          <a:bodyPr wrap="square" lIns="91440" tIns="45720" rIns="91440" bIns="45720" rtlCol="0" anchor="ctr"/>
          <a:lstStyle/>
          <a:p>
            <a:pPr marL="0" indent="0" algn="ctr">
              <a:buNone/>
            </a:pPr>
            <a:r>
              <a:rPr lang="en-US" sz="1100" b="1">
                <a:solidFill>
                  <a:srgbClr val="00E676"/>
                </a:solidFill>
                <a:latin typeface="Calibri"/>
                <a:ea typeface="Calibri"/>
                <a:cs typeface="Calibri"/>
              </a:rPr>
              <a:t>2025 / 2026</a:t>
            </a:r>
            <a:endParaRPr lang="en-US" sz="1100">
              <a:latin typeface="Calibri"/>
              <a:ea typeface="Calibri"/>
              <a:cs typeface="Calibri"/>
            </a:endParaRPr>
          </a:p>
        </p:txBody>
      </p:sp>
      <p:sp>
        <p:nvSpPr>
          <p:cNvPr id="20" name="Shape 16"/>
          <p:cNvSpPr/>
          <p:nvPr/>
        </p:nvSpPr>
        <p:spPr>
          <a:xfrm>
            <a:off x="6903720" y="4069080"/>
            <a:ext cx="2148840" cy="621792"/>
          </a:xfrm>
          <a:prstGeom prst="roundRect">
            <a:avLst>
              <a:gd name="adj" fmla="val 11765"/>
            </a:avLst>
          </a:prstGeom>
          <a:solidFill>
            <a:srgbClr val="6C63FF">
              <a:alpha val="85000"/>
            </a:srgbClr>
          </a:solidFill>
          <a:ln w="19050">
            <a:solidFill>
              <a:srgbClr val="6C63FF"/>
            </a:solidFill>
            <a:prstDash val="solid"/>
          </a:ln>
        </p:spPr>
      </p:sp>
      <p:sp>
        <p:nvSpPr>
          <p:cNvPr id="21" name="Text 17"/>
          <p:cNvSpPr/>
          <p:nvPr/>
        </p:nvSpPr>
        <p:spPr>
          <a:xfrm>
            <a:off x="6903720" y="4087368"/>
            <a:ext cx="2148840" cy="310896"/>
          </a:xfrm>
          <a:prstGeom prst="rect">
            <a:avLst/>
          </a:prstGeom>
          <a:noFill/>
          <a:ln/>
        </p:spPr>
        <p:txBody>
          <a:bodyPr wrap="square" lIns="91440" tIns="45720" rIns="91440" bIns="45720" rtlCol="0" anchor="ctr"/>
          <a:lstStyle/>
          <a:p>
            <a:pPr marL="0" indent="0" algn="ctr">
              <a:buNone/>
            </a:pPr>
            <a:r>
              <a:rPr lang="en-US" sz="1200" kern="0" spc="100">
                <a:solidFill>
                  <a:srgbClr val="F1F5FB"/>
                </a:solidFill>
                <a:ea typeface="+mn-lt"/>
                <a:cs typeface="+mn-lt"/>
              </a:rPr>
              <a:t>DEPI_SWD6</a:t>
            </a:r>
            <a:endParaRPr lang="en-US"/>
          </a:p>
        </p:txBody>
      </p:sp>
      <p:sp>
        <p:nvSpPr>
          <p:cNvPr id="22" name="Text 18"/>
          <p:cNvSpPr/>
          <p:nvPr/>
        </p:nvSpPr>
        <p:spPr>
          <a:xfrm flipV="1">
            <a:off x="6903720" y="4246082"/>
            <a:ext cx="2137955" cy="146740"/>
          </a:xfrm>
          <a:prstGeom prst="rect">
            <a:avLst/>
          </a:prstGeom>
          <a:noFill/>
          <a:ln/>
        </p:spPr>
        <p:txBody>
          <a:bodyPr wrap="square" lIns="91440" tIns="45720" rIns="91440" bIns="45720" rtlCol="0" anchor="ctr"/>
          <a:lstStyle/>
          <a:p>
            <a:pPr marL="0" indent="0" algn="ctr">
              <a:buNone/>
            </a:pPr>
            <a:endParaRPr lang="en-US" sz="1000">
              <a:solidFill>
                <a:srgbClr val="4FC3F7"/>
              </a:solidFill>
              <a:ea typeface="Calibri"/>
              <a:cs typeface="Calibri"/>
            </a:endParaRPr>
          </a:p>
        </p:txBody>
      </p:sp>
      <p:sp>
        <p:nvSpPr>
          <p:cNvPr id="23" name="Shape 19"/>
          <p:cNvSpPr/>
          <p:nvPr/>
        </p:nvSpPr>
        <p:spPr>
          <a:xfrm>
            <a:off x="0" y="4773168"/>
            <a:ext cx="9144000" cy="370332"/>
          </a:xfrm>
          <a:prstGeom prst="rect">
            <a:avLst/>
          </a:prstGeom>
          <a:solidFill>
            <a:srgbClr val="141B2D"/>
          </a:solidFill>
          <a:ln w="12700">
            <a:solidFill>
              <a:srgbClr val="1E2D4A"/>
            </a:solidFill>
            <a:prstDash val="solid"/>
          </a:ln>
        </p:spPr>
      </p:sp>
      <p:sp>
        <p:nvSpPr>
          <p:cNvPr id="24" name="Text 20"/>
          <p:cNvSpPr/>
          <p:nvPr/>
        </p:nvSpPr>
        <p:spPr>
          <a:xfrm>
            <a:off x="274320" y="4773168"/>
            <a:ext cx="8595360" cy="370332"/>
          </a:xfrm>
          <a:prstGeom prst="rect">
            <a:avLst/>
          </a:prstGeom>
          <a:noFill/>
          <a:ln/>
        </p:spPr>
        <p:txBody>
          <a:bodyPr wrap="square" lIns="91440" tIns="45720" rIns="91440" bIns="45720" rtlCol="0" anchor="ctr"/>
          <a:lstStyle/>
          <a:p>
            <a:pPr marL="0" indent="0" algn="ctr">
              <a:buNone/>
            </a:pPr>
            <a:endParaRPr lang="en-US" sz="1200" b="1" dirty="0">
              <a:solidFill>
                <a:srgbClr val="4FC3F7"/>
              </a:solidFill>
              <a:latin typeface="Calibri"/>
              <a:ea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A"/>
        </a:solidFill>
        <a:effectLst/>
      </p:bgPr>
    </p:bg>
    <p:spTree>
      <p:nvGrpSpPr>
        <p:cNvPr id="1" name=""/>
        <p:cNvGrpSpPr/>
        <p:nvPr/>
      </p:nvGrpSpPr>
      <p:grpSpPr>
        <a:xfrm>
          <a:off x="0" y="0"/>
          <a:ext cx="0" cy="0"/>
          <a:chOff x="0" y="0"/>
          <a:chExt cx="0" cy="0"/>
        </a:xfrm>
      </p:grpSpPr>
      <p:sp>
        <p:nvSpPr>
          <p:cNvPr id="4" name="Shape 0"/>
          <p:cNvSpPr/>
          <p:nvPr/>
        </p:nvSpPr>
        <p:spPr>
          <a:xfrm>
            <a:off x="0" y="178676"/>
            <a:ext cx="2926080" cy="4964823"/>
          </a:xfrm>
          <a:prstGeom prst="rect">
            <a:avLst/>
          </a:prstGeom>
          <a:solidFill>
            <a:srgbClr val="141B2D"/>
          </a:solidFill>
          <a:ln w="12700">
            <a:solidFill>
              <a:srgbClr val="1E2D4A"/>
            </a:solidFill>
            <a:prstDash val="solid"/>
          </a:ln>
        </p:spPr>
      </p:sp>
      <p:pic>
        <p:nvPicPr>
          <p:cNvPr id="2" name="Image 0" descr="preencoded.png"/>
          <p:cNvPicPr>
            <a:picLocks noChangeAspect="1"/>
          </p:cNvPicPr>
          <p:nvPr/>
        </p:nvPicPr>
        <p:blipFill>
          <a:blip r:embed="rId3"/>
          <a:stretch>
            <a:fillRect/>
          </a:stretch>
        </p:blipFill>
        <p:spPr>
          <a:xfrm>
            <a:off x="109728" y="73152"/>
            <a:ext cx="658368" cy="658368"/>
          </a:xfrm>
          <a:prstGeom prst="ellipse">
            <a:avLst/>
          </a:prstGeom>
        </p:spPr>
      </p:pic>
      <p:pic>
        <p:nvPicPr>
          <p:cNvPr id="3" name="Image 1" descr="preencoded.png"/>
          <p:cNvPicPr>
            <a:picLocks noChangeAspect="1"/>
          </p:cNvPicPr>
          <p:nvPr/>
        </p:nvPicPr>
        <p:blipFill>
          <a:blip r:embed="rId4"/>
          <a:stretch>
            <a:fillRect/>
          </a:stretch>
        </p:blipFill>
        <p:spPr>
          <a:xfrm>
            <a:off x="8375904" y="73152"/>
            <a:ext cx="658368" cy="658368"/>
          </a:xfrm>
          <a:prstGeom prst="rect">
            <a:avLst/>
          </a:prstGeom>
        </p:spPr>
      </p:pic>
      <p:sp>
        <p:nvSpPr>
          <p:cNvPr id="5" name="Shape 1"/>
          <p:cNvSpPr/>
          <p:nvPr/>
        </p:nvSpPr>
        <p:spPr>
          <a:xfrm>
            <a:off x="0" y="0"/>
            <a:ext cx="54864" cy="5143500"/>
          </a:xfrm>
          <a:prstGeom prst="rect">
            <a:avLst/>
          </a:prstGeom>
          <a:solidFill>
            <a:srgbClr val="6C63FF"/>
          </a:solidFill>
          <a:ln w="12700">
            <a:solidFill>
              <a:srgbClr val="6C63FF"/>
            </a:solidFill>
            <a:prstDash val="solid"/>
          </a:ln>
        </p:spPr>
      </p:sp>
      <p:sp>
        <p:nvSpPr>
          <p:cNvPr id="6" name="Text 2"/>
          <p:cNvSpPr/>
          <p:nvPr/>
        </p:nvSpPr>
        <p:spPr>
          <a:xfrm>
            <a:off x="182880" y="562356"/>
            <a:ext cx="2560320" cy="534924"/>
          </a:xfrm>
          <a:prstGeom prst="rect">
            <a:avLst/>
          </a:prstGeom>
          <a:noFill/>
          <a:ln/>
        </p:spPr>
        <p:txBody>
          <a:bodyPr wrap="square" rtlCol="0" anchor="ctr"/>
          <a:lstStyle/>
          <a:p>
            <a:pPr marL="0" indent="0">
              <a:buNone/>
            </a:pPr>
            <a:r>
              <a:rPr lang="en-US" sz="2800" b="1" kern="0" spc="300" dirty="0">
                <a:solidFill>
                  <a:srgbClr val="F1F5FB"/>
                </a:solidFill>
                <a:latin typeface="Calibri" pitchFamily="34" charset="0"/>
                <a:ea typeface="Calibri" pitchFamily="34" charset="-122"/>
                <a:cs typeface="Calibri" pitchFamily="34" charset="-120"/>
              </a:rPr>
              <a:t>AGENDA</a:t>
            </a:r>
            <a:endParaRPr lang="en-US" sz="2800" dirty="0"/>
          </a:p>
        </p:txBody>
      </p:sp>
      <p:sp>
        <p:nvSpPr>
          <p:cNvPr id="7" name="Text 3"/>
          <p:cNvSpPr/>
          <p:nvPr/>
        </p:nvSpPr>
        <p:spPr>
          <a:xfrm>
            <a:off x="182880" y="1051560"/>
            <a:ext cx="2560320" cy="365760"/>
          </a:xfrm>
          <a:prstGeom prst="rect">
            <a:avLst/>
          </a:prstGeom>
          <a:noFill/>
          <a:ln/>
        </p:spPr>
        <p:txBody>
          <a:bodyPr wrap="square" rtlCol="0" anchor="ctr"/>
          <a:lstStyle/>
          <a:p>
            <a:pPr marL="0" indent="0">
              <a:buNone/>
            </a:pPr>
            <a:r>
              <a:rPr lang="en-US" sz="1000" dirty="0">
                <a:solidFill>
                  <a:srgbClr val="8892A4"/>
                </a:solidFill>
                <a:latin typeface="Calibri" pitchFamily="34" charset="0"/>
                <a:ea typeface="Calibri" pitchFamily="34" charset="-122"/>
                <a:cs typeface="Calibri" pitchFamily="34" charset="-120"/>
              </a:rPr>
              <a:t>What we'll cover today</a:t>
            </a:r>
            <a:endParaRPr lang="en-US" sz="1000" dirty="0"/>
          </a:p>
        </p:txBody>
      </p:sp>
      <p:sp>
        <p:nvSpPr>
          <p:cNvPr id="8" name="Shape 4"/>
          <p:cNvSpPr/>
          <p:nvPr/>
        </p:nvSpPr>
        <p:spPr>
          <a:xfrm>
            <a:off x="182880" y="1417320"/>
            <a:ext cx="2377440" cy="0"/>
          </a:xfrm>
          <a:prstGeom prst="line">
            <a:avLst/>
          </a:prstGeom>
          <a:noFill/>
          <a:ln w="12700">
            <a:solidFill>
              <a:srgbClr val="6C63FF"/>
            </a:solidFill>
            <a:prstDash val="solid"/>
          </a:ln>
        </p:spPr>
      </p:sp>
      <p:sp>
        <p:nvSpPr>
          <p:cNvPr id="9" name="Shape 5"/>
          <p:cNvSpPr/>
          <p:nvPr/>
        </p:nvSpPr>
        <p:spPr>
          <a:xfrm>
            <a:off x="164592" y="1600200"/>
            <a:ext cx="2514600" cy="420624"/>
          </a:xfrm>
          <a:prstGeom prst="roundRect">
            <a:avLst>
              <a:gd name="adj" fmla="val 10870"/>
            </a:avLst>
          </a:prstGeom>
          <a:solidFill>
            <a:srgbClr val="6C63FF"/>
          </a:solidFill>
          <a:ln w="12700">
            <a:solidFill>
              <a:srgbClr val="6C63FF"/>
            </a:solidFill>
            <a:prstDash val="solid"/>
          </a:ln>
        </p:spPr>
      </p:sp>
      <p:sp>
        <p:nvSpPr>
          <p:cNvPr id="10" name="Text 6"/>
          <p:cNvSpPr/>
          <p:nvPr/>
        </p:nvSpPr>
        <p:spPr>
          <a:xfrm>
            <a:off x="201168" y="1600200"/>
            <a:ext cx="2468880" cy="420624"/>
          </a:xfrm>
          <a:prstGeom prst="rect">
            <a:avLst/>
          </a:prstGeom>
          <a:noFill/>
          <a:ln/>
        </p:spPr>
        <p:txBody>
          <a:bodyPr wrap="square" lIns="101600" tIns="101600" rIns="101600" bIns="101600" rtlCol="0" anchor="ctr"/>
          <a:lstStyle/>
          <a:p>
            <a:pPr marL="0" indent="0">
              <a:buNone/>
            </a:pPr>
            <a:r>
              <a:rPr lang="en-US" sz="1200" b="1" dirty="0">
                <a:solidFill>
                  <a:srgbClr val="F1F5FB"/>
                </a:solidFill>
                <a:latin typeface="Calibri" pitchFamily="34" charset="0"/>
                <a:ea typeface="Calibri" pitchFamily="34" charset="-122"/>
                <a:cs typeface="Calibri" pitchFamily="34" charset="-120"/>
              </a:rPr>
              <a:t>01  Introduction</a:t>
            </a:r>
            <a:endParaRPr lang="en-US" sz="1200" dirty="0"/>
          </a:p>
        </p:txBody>
      </p:sp>
      <p:sp>
        <p:nvSpPr>
          <p:cNvPr id="11" name="Shape 7"/>
          <p:cNvSpPr/>
          <p:nvPr/>
        </p:nvSpPr>
        <p:spPr>
          <a:xfrm>
            <a:off x="164592" y="2112264"/>
            <a:ext cx="2514600" cy="420624"/>
          </a:xfrm>
          <a:prstGeom prst="roundRect">
            <a:avLst>
              <a:gd name="adj" fmla="val 10870"/>
            </a:avLst>
          </a:prstGeom>
          <a:solidFill>
            <a:srgbClr val="0F1526"/>
          </a:solidFill>
          <a:ln w="12700">
            <a:solidFill>
              <a:srgbClr val="1E2D4A"/>
            </a:solidFill>
            <a:prstDash val="solid"/>
          </a:ln>
        </p:spPr>
      </p:sp>
      <p:sp>
        <p:nvSpPr>
          <p:cNvPr id="12" name="Text 8"/>
          <p:cNvSpPr/>
          <p:nvPr/>
        </p:nvSpPr>
        <p:spPr>
          <a:xfrm>
            <a:off x="201168" y="2112264"/>
            <a:ext cx="2468880" cy="420624"/>
          </a:xfrm>
          <a:prstGeom prst="rect">
            <a:avLst/>
          </a:prstGeom>
          <a:noFill/>
          <a:ln/>
        </p:spPr>
        <p:txBody>
          <a:bodyPr wrap="square" lIns="101600" tIns="101600" rIns="101600" bIns="101600" rtlCol="0" anchor="ctr"/>
          <a:lstStyle/>
          <a:p>
            <a:pPr marL="0" indent="0">
              <a:buNone/>
            </a:pPr>
            <a:r>
              <a:rPr lang="en-US" sz="1200" dirty="0">
                <a:solidFill>
                  <a:srgbClr val="8892A4"/>
                </a:solidFill>
                <a:latin typeface="Calibri" pitchFamily="34" charset="0"/>
                <a:ea typeface="Calibri" pitchFamily="34" charset="-122"/>
                <a:cs typeface="Calibri" pitchFamily="34" charset="-120"/>
              </a:rPr>
              <a:t>02  Problem Statement</a:t>
            </a:r>
            <a:endParaRPr lang="en-US" sz="1200" dirty="0"/>
          </a:p>
        </p:txBody>
      </p:sp>
      <p:sp>
        <p:nvSpPr>
          <p:cNvPr id="13" name="Shape 9"/>
          <p:cNvSpPr/>
          <p:nvPr/>
        </p:nvSpPr>
        <p:spPr>
          <a:xfrm>
            <a:off x="164592" y="2624328"/>
            <a:ext cx="2514600" cy="420624"/>
          </a:xfrm>
          <a:prstGeom prst="roundRect">
            <a:avLst>
              <a:gd name="adj" fmla="val 10870"/>
            </a:avLst>
          </a:prstGeom>
          <a:solidFill>
            <a:srgbClr val="0F1526"/>
          </a:solidFill>
          <a:ln w="12700">
            <a:solidFill>
              <a:srgbClr val="1E2D4A"/>
            </a:solidFill>
            <a:prstDash val="solid"/>
          </a:ln>
        </p:spPr>
      </p:sp>
      <p:sp>
        <p:nvSpPr>
          <p:cNvPr id="14" name="Text 10"/>
          <p:cNvSpPr/>
          <p:nvPr/>
        </p:nvSpPr>
        <p:spPr>
          <a:xfrm>
            <a:off x="201168" y="2624328"/>
            <a:ext cx="2468880" cy="420624"/>
          </a:xfrm>
          <a:prstGeom prst="rect">
            <a:avLst/>
          </a:prstGeom>
          <a:noFill/>
          <a:ln/>
        </p:spPr>
        <p:txBody>
          <a:bodyPr wrap="square" lIns="101600" tIns="101600" rIns="101600" bIns="101600" rtlCol="0" anchor="ctr"/>
          <a:lstStyle/>
          <a:p>
            <a:pPr marL="0" indent="0">
              <a:buNone/>
            </a:pPr>
            <a:r>
              <a:rPr lang="en-US" sz="1200" dirty="0">
                <a:solidFill>
                  <a:srgbClr val="8892A4"/>
                </a:solidFill>
                <a:latin typeface="Calibri" pitchFamily="34" charset="0"/>
                <a:ea typeface="Calibri" pitchFamily="34" charset="-122"/>
                <a:cs typeface="Calibri" pitchFamily="34" charset="-120"/>
              </a:rPr>
              <a:t>03  Solution Overview</a:t>
            </a:r>
            <a:endParaRPr lang="en-US" sz="1200" dirty="0"/>
          </a:p>
        </p:txBody>
      </p:sp>
      <p:sp>
        <p:nvSpPr>
          <p:cNvPr id="15" name="Shape 11"/>
          <p:cNvSpPr/>
          <p:nvPr/>
        </p:nvSpPr>
        <p:spPr>
          <a:xfrm>
            <a:off x="164592" y="3136392"/>
            <a:ext cx="2514600" cy="420624"/>
          </a:xfrm>
          <a:prstGeom prst="roundRect">
            <a:avLst>
              <a:gd name="adj" fmla="val 10870"/>
            </a:avLst>
          </a:prstGeom>
          <a:solidFill>
            <a:srgbClr val="0F1526"/>
          </a:solidFill>
          <a:ln w="12700">
            <a:solidFill>
              <a:srgbClr val="1E2D4A"/>
            </a:solidFill>
            <a:prstDash val="solid"/>
          </a:ln>
        </p:spPr>
      </p:sp>
      <p:sp>
        <p:nvSpPr>
          <p:cNvPr id="16" name="Text 12"/>
          <p:cNvSpPr/>
          <p:nvPr/>
        </p:nvSpPr>
        <p:spPr>
          <a:xfrm>
            <a:off x="201168" y="3136392"/>
            <a:ext cx="2468880" cy="420624"/>
          </a:xfrm>
          <a:prstGeom prst="rect">
            <a:avLst/>
          </a:prstGeom>
          <a:noFill/>
          <a:ln/>
        </p:spPr>
        <p:txBody>
          <a:bodyPr wrap="square" lIns="101600" tIns="101600" rIns="101600" bIns="101600" rtlCol="0" anchor="ctr"/>
          <a:lstStyle/>
          <a:p>
            <a:pPr marL="0" indent="0">
              <a:buNone/>
            </a:pPr>
            <a:r>
              <a:rPr lang="en-US" sz="1200" dirty="0">
                <a:solidFill>
                  <a:srgbClr val="8892A4"/>
                </a:solidFill>
                <a:latin typeface="Calibri" pitchFamily="34" charset="0"/>
                <a:ea typeface="Calibri" pitchFamily="34" charset="-122"/>
                <a:cs typeface="Calibri" pitchFamily="34" charset="-120"/>
              </a:rPr>
              <a:t>04  System Design</a:t>
            </a:r>
            <a:endParaRPr lang="en-US" sz="1200" dirty="0"/>
          </a:p>
        </p:txBody>
      </p:sp>
      <p:sp>
        <p:nvSpPr>
          <p:cNvPr id="17" name="Shape 13"/>
          <p:cNvSpPr/>
          <p:nvPr/>
        </p:nvSpPr>
        <p:spPr>
          <a:xfrm>
            <a:off x="164592" y="3648456"/>
            <a:ext cx="2514600" cy="420624"/>
          </a:xfrm>
          <a:prstGeom prst="roundRect">
            <a:avLst>
              <a:gd name="adj" fmla="val 10870"/>
            </a:avLst>
          </a:prstGeom>
          <a:solidFill>
            <a:srgbClr val="0F1526"/>
          </a:solidFill>
          <a:ln w="12700">
            <a:solidFill>
              <a:srgbClr val="1E2D4A"/>
            </a:solidFill>
            <a:prstDash val="solid"/>
          </a:ln>
        </p:spPr>
      </p:sp>
      <p:sp>
        <p:nvSpPr>
          <p:cNvPr id="18" name="Text 14"/>
          <p:cNvSpPr/>
          <p:nvPr/>
        </p:nvSpPr>
        <p:spPr>
          <a:xfrm>
            <a:off x="201168" y="3648456"/>
            <a:ext cx="2468880" cy="420624"/>
          </a:xfrm>
          <a:prstGeom prst="rect">
            <a:avLst/>
          </a:prstGeom>
          <a:noFill/>
          <a:ln/>
        </p:spPr>
        <p:txBody>
          <a:bodyPr wrap="square" lIns="101600" tIns="101600" rIns="101600" bIns="101600" rtlCol="0" anchor="ctr"/>
          <a:lstStyle/>
          <a:p>
            <a:pPr marL="0" indent="0">
              <a:buNone/>
            </a:pPr>
            <a:r>
              <a:rPr lang="en-US" sz="1200" dirty="0">
                <a:solidFill>
                  <a:srgbClr val="8892A4"/>
                </a:solidFill>
                <a:latin typeface="Calibri" pitchFamily="34" charset="0"/>
                <a:ea typeface="Calibri" pitchFamily="34" charset="-122"/>
                <a:cs typeface="Calibri" pitchFamily="34" charset="-120"/>
              </a:rPr>
              <a:t>05  Demo</a:t>
            </a:r>
            <a:endParaRPr lang="en-US" sz="1200" dirty="0"/>
          </a:p>
        </p:txBody>
      </p:sp>
      <p:sp>
        <p:nvSpPr>
          <p:cNvPr id="19" name="Shape 15"/>
          <p:cNvSpPr/>
          <p:nvPr/>
        </p:nvSpPr>
        <p:spPr>
          <a:xfrm>
            <a:off x="164592" y="4160520"/>
            <a:ext cx="2514600" cy="420624"/>
          </a:xfrm>
          <a:prstGeom prst="roundRect">
            <a:avLst>
              <a:gd name="adj" fmla="val 10870"/>
            </a:avLst>
          </a:prstGeom>
          <a:solidFill>
            <a:srgbClr val="0F1526"/>
          </a:solidFill>
          <a:ln w="12700">
            <a:solidFill>
              <a:srgbClr val="1E2D4A"/>
            </a:solidFill>
            <a:prstDash val="solid"/>
          </a:ln>
        </p:spPr>
      </p:sp>
      <p:sp>
        <p:nvSpPr>
          <p:cNvPr id="20" name="Text 16"/>
          <p:cNvSpPr/>
          <p:nvPr/>
        </p:nvSpPr>
        <p:spPr>
          <a:xfrm>
            <a:off x="201168" y="4160520"/>
            <a:ext cx="2468880" cy="420624"/>
          </a:xfrm>
          <a:prstGeom prst="rect">
            <a:avLst/>
          </a:prstGeom>
          <a:noFill/>
          <a:ln/>
        </p:spPr>
        <p:txBody>
          <a:bodyPr wrap="square" lIns="101600" tIns="101600" rIns="101600" bIns="101600" rtlCol="0" anchor="ctr"/>
          <a:lstStyle/>
          <a:p>
            <a:pPr marL="0" indent="0">
              <a:buNone/>
            </a:pPr>
            <a:r>
              <a:rPr lang="en-US" sz="1200" dirty="0">
                <a:solidFill>
                  <a:srgbClr val="8892A4"/>
                </a:solidFill>
                <a:latin typeface="Calibri" pitchFamily="34" charset="0"/>
                <a:ea typeface="Calibri" pitchFamily="34" charset="-122"/>
                <a:cs typeface="Calibri" pitchFamily="34" charset="-120"/>
              </a:rPr>
              <a:t>06  Conclusion</a:t>
            </a:r>
            <a:endParaRPr lang="en-US" sz="1200" dirty="0"/>
          </a:p>
        </p:txBody>
      </p:sp>
      <p:sp>
        <p:nvSpPr>
          <p:cNvPr id="21" name="Text 17"/>
          <p:cNvSpPr/>
          <p:nvPr/>
        </p:nvSpPr>
        <p:spPr>
          <a:xfrm>
            <a:off x="3200400" y="457200"/>
            <a:ext cx="5486400" cy="502920"/>
          </a:xfrm>
          <a:prstGeom prst="rect">
            <a:avLst/>
          </a:prstGeom>
          <a:noFill/>
          <a:ln/>
        </p:spPr>
        <p:txBody>
          <a:bodyPr wrap="square" rtlCol="0" anchor="ctr"/>
          <a:lstStyle/>
          <a:p>
            <a:pPr marL="0" indent="0">
              <a:buNone/>
            </a:pPr>
            <a:r>
              <a:rPr lang="en-US" sz="2200" b="1" dirty="0">
                <a:solidFill>
                  <a:srgbClr val="F1F5FB"/>
                </a:solidFill>
                <a:latin typeface="Calibri" pitchFamily="34" charset="0"/>
                <a:ea typeface="Calibri" pitchFamily="34" charset="-122"/>
                <a:cs typeface="Calibri" pitchFamily="34" charset="-120"/>
              </a:rPr>
              <a:t>Overview</a:t>
            </a:r>
            <a:endParaRPr lang="en-US" sz="2200" dirty="0"/>
          </a:p>
        </p:txBody>
      </p:sp>
      <p:sp>
        <p:nvSpPr>
          <p:cNvPr id="22" name="Shape 18"/>
          <p:cNvSpPr/>
          <p:nvPr/>
        </p:nvSpPr>
        <p:spPr>
          <a:xfrm>
            <a:off x="3200400" y="960120"/>
            <a:ext cx="5486400" cy="0"/>
          </a:xfrm>
          <a:prstGeom prst="line">
            <a:avLst/>
          </a:prstGeom>
          <a:noFill/>
          <a:ln w="6350">
            <a:solidFill>
              <a:srgbClr val="1E2D4A"/>
            </a:solidFill>
            <a:prstDash val="solid"/>
          </a:ln>
        </p:spPr>
      </p:sp>
      <p:sp>
        <p:nvSpPr>
          <p:cNvPr id="23" name="Text 19"/>
          <p:cNvSpPr/>
          <p:nvPr/>
        </p:nvSpPr>
        <p:spPr>
          <a:xfrm>
            <a:off x="3200400" y="1143000"/>
            <a:ext cx="5303520" cy="914400"/>
          </a:xfrm>
          <a:prstGeom prst="rect">
            <a:avLst/>
          </a:prstGeom>
          <a:noFill/>
          <a:ln/>
        </p:spPr>
        <p:txBody>
          <a:bodyPr wrap="square" rtlCol="0" anchor="ctr"/>
          <a:lstStyle/>
          <a:p>
            <a:pPr marL="0" indent="0" algn="l">
              <a:buNone/>
            </a:pPr>
            <a:r>
              <a:rPr lang="en-US" sz="1300" dirty="0">
                <a:solidFill>
                  <a:srgbClr val="8892A4"/>
                </a:solidFill>
                <a:latin typeface="Calibri" pitchFamily="34" charset="0"/>
                <a:ea typeface="Calibri" pitchFamily="34" charset="-122"/>
                <a:cs typeface="Calibri" pitchFamily="34" charset="-120"/>
              </a:rPr>
              <a:t>This presentation covers our graduation project from inception to delivery — walking through every stage of our QA testing lifecycle, methodology, and final results.</a:t>
            </a:r>
            <a:endParaRPr lang="en-US" sz="1300" dirty="0"/>
          </a:p>
        </p:txBody>
      </p:sp>
      <p:sp>
        <p:nvSpPr>
          <p:cNvPr id="24" name="Shape 20"/>
          <p:cNvSpPr/>
          <p:nvPr/>
        </p:nvSpPr>
        <p:spPr>
          <a:xfrm>
            <a:off x="3200400" y="2377440"/>
            <a:ext cx="1280160" cy="1188720"/>
          </a:xfrm>
          <a:prstGeom prst="roundRect">
            <a:avLst>
              <a:gd name="adj" fmla="val 6154"/>
            </a:avLst>
          </a:prstGeom>
          <a:solidFill>
            <a:srgbClr val="141B2D"/>
          </a:solidFill>
          <a:ln w="12700">
            <a:solidFill>
              <a:srgbClr val="6C63FF"/>
            </a:solidFill>
            <a:prstDash val="solid"/>
          </a:ln>
        </p:spPr>
      </p:sp>
      <p:sp>
        <p:nvSpPr>
          <p:cNvPr id="25" name="Text 21"/>
          <p:cNvSpPr/>
          <p:nvPr/>
        </p:nvSpPr>
        <p:spPr>
          <a:xfrm>
            <a:off x="3200400" y="2468880"/>
            <a:ext cx="1280160" cy="594360"/>
          </a:xfrm>
          <a:prstGeom prst="rect">
            <a:avLst/>
          </a:prstGeom>
          <a:noFill/>
          <a:ln/>
        </p:spPr>
        <p:txBody>
          <a:bodyPr wrap="square" lIns="91440" tIns="45720" rIns="91440" bIns="45720" rtlCol="0" anchor="ctr"/>
          <a:lstStyle/>
          <a:p>
            <a:pPr marL="0" indent="0" algn="ctr">
              <a:buNone/>
            </a:pPr>
            <a:r>
              <a:rPr lang="en-US" sz="3000" b="1">
                <a:solidFill>
                  <a:srgbClr val="6C63FF"/>
                </a:solidFill>
                <a:ea typeface="Calibri"/>
                <a:cs typeface="Calibri"/>
              </a:rPr>
              <a:t>330</a:t>
            </a:r>
            <a:endParaRPr lang="en-US" sz="3000" b="1" dirty="0">
              <a:solidFill>
                <a:srgbClr val="6C63FF"/>
              </a:solidFill>
              <a:ea typeface="Calibri"/>
              <a:cs typeface="Calibri"/>
            </a:endParaRPr>
          </a:p>
        </p:txBody>
      </p:sp>
      <p:sp>
        <p:nvSpPr>
          <p:cNvPr id="26" name="Text 22"/>
          <p:cNvSpPr/>
          <p:nvPr/>
        </p:nvSpPr>
        <p:spPr>
          <a:xfrm>
            <a:off x="3200400" y="3063240"/>
            <a:ext cx="1280160" cy="411480"/>
          </a:xfrm>
          <a:prstGeom prst="rect">
            <a:avLst/>
          </a:prstGeom>
          <a:noFill/>
          <a:ln/>
        </p:spPr>
        <p:txBody>
          <a:bodyPr wrap="square" rtlCol="0" anchor="ctr"/>
          <a:lstStyle/>
          <a:p>
            <a:pPr marL="0" indent="0" algn="ctr">
              <a:buNone/>
            </a:pPr>
            <a:r>
              <a:rPr lang="en-US" sz="1000" dirty="0">
                <a:solidFill>
                  <a:srgbClr val="8892A4"/>
                </a:solidFill>
                <a:latin typeface="Calibri" pitchFamily="34" charset="0"/>
                <a:ea typeface="Calibri" pitchFamily="34" charset="-122"/>
                <a:cs typeface="Calibri" pitchFamily="34" charset="-120"/>
              </a:rPr>
              <a:t>Test Cases</a:t>
            </a:r>
            <a:endParaRPr lang="en-US" sz="1000" dirty="0"/>
          </a:p>
        </p:txBody>
      </p:sp>
      <p:sp>
        <p:nvSpPr>
          <p:cNvPr id="27" name="Shape 23"/>
          <p:cNvSpPr/>
          <p:nvPr/>
        </p:nvSpPr>
        <p:spPr>
          <a:xfrm>
            <a:off x="4663440" y="2377440"/>
            <a:ext cx="1280160" cy="1188720"/>
          </a:xfrm>
          <a:prstGeom prst="roundRect">
            <a:avLst>
              <a:gd name="adj" fmla="val 6154"/>
            </a:avLst>
          </a:prstGeom>
          <a:solidFill>
            <a:srgbClr val="141B2D"/>
          </a:solidFill>
          <a:ln w="12700">
            <a:solidFill>
              <a:srgbClr val="00E676"/>
            </a:solidFill>
            <a:prstDash val="solid"/>
          </a:ln>
        </p:spPr>
      </p:sp>
      <p:sp>
        <p:nvSpPr>
          <p:cNvPr id="28" name="Text 24"/>
          <p:cNvSpPr/>
          <p:nvPr/>
        </p:nvSpPr>
        <p:spPr>
          <a:xfrm>
            <a:off x="4663440" y="2468880"/>
            <a:ext cx="1280160" cy="594360"/>
          </a:xfrm>
          <a:prstGeom prst="rect">
            <a:avLst/>
          </a:prstGeom>
          <a:noFill/>
          <a:ln/>
        </p:spPr>
        <p:txBody>
          <a:bodyPr wrap="square" lIns="91440" tIns="45720" rIns="91440" bIns="45720" rtlCol="0" anchor="ctr"/>
          <a:lstStyle/>
          <a:p>
            <a:pPr marL="0" indent="0" algn="ctr">
              <a:buNone/>
            </a:pPr>
            <a:r>
              <a:rPr lang="en-US" sz="3000" b="1">
                <a:solidFill>
                  <a:srgbClr val="00E676"/>
                </a:solidFill>
                <a:ea typeface="Calibri"/>
                <a:cs typeface="Calibri"/>
              </a:rPr>
              <a:t>330</a:t>
            </a:r>
            <a:endParaRPr lang="en-US" sz="3000" b="1" dirty="0">
              <a:solidFill>
                <a:srgbClr val="00E676"/>
              </a:solidFill>
              <a:ea typeface="Calibri"/>
              <a:cs typeface="Calibri"/>
            </a:endParaRPr>
          </a:p>
        </p:txBody>
      </p:sp>
      <p:sp>
        <p:nvSpPr>
          <p:cNvPr id="29" name="Text 25"/>
          <p:cNvSpPr/>
          <p:nvPr/>
        </p:nvSpPr>
        <p:spPr>
          <a:xfrm>
            <a:off x="4663440" y="3063240"/>
            <a:ext cx="1280160" cy="411480"/>
          </a:xfrm>
          <a:prstGeom prst="rect">
            <a:avLst/>
          </a:prstGeom>
          <a:noFill/>
          <a:ln/>
        </p:spPr>
        <p:txBody>
          <a:bodyPr wrap="square" rtlCol="0" anchor="ctr"/>
          <a:lstStyle/>
          <a:p>
            <a:pPr marL="0" indent="0" algn="ctr">
              <a:buNone/>
            </a:pPr>
            <a:r>
              <a:rPr lang="en-US" sz="1000" dirty="0">
                <a:solidFill>
                  <a:srgbClr val="8892A4"/>
                </a:solidFill>
                <a:latin typeface="Calibri" pitchFamily="34" charset="0"/>
                <a:ea typeface="Calibri" pitchFamily="34" charset="-122"/>
                <a:cs typeface="Calibri" pitchFamily="34" charset="-120"/>
              </a:rPr>
              <a:t>Passed</a:t>
            </a:r>
            <a:endParaRPr lang="en-US" sz="1000" dirty="0"/>
          </a:p>
        </p:txBody>
      </p:sp>
      <p:sp>
        <p:nvSpPr>
          <p:cNvPr id="30" name="Shape 26"/>
          <p:cNvSpPr/>
          <p:nvPr/>
        </p:nvSpPr>
        <p:spPr>
          <a:xfrm>
            <a:off x="6126480" y="2377440"/>
            <a:ext cx="1280160" cy="1188720"/>
          </a:xfrm>
          <a:prstGeom prst="roundRect">
            <a:avLst>
              <a:gd name="adj" fmla="val 6154"/>
            </a:avLst>
          </a:prstGeom>
          <a:solidFill>
            <a:srgbClr val="141B2D"/>
          </a:solidFill>
          <a:ln w="12700">
            <a:solidFill>
              <a:srgbClr val="FF5252"/>
            </a:solidFill>
            <a:prstDash val="solid"/>
          </a:ln>
        </p:spPr>
      </p:sp>
      <p:sp>
        <p:nvSpPr>
          <p:cNvPr id="31" name="Text 27"/>
          <p:cNvSpPr/>
          <p:nvPr/>
        </p:nvSpPr>
        <p:spPr>
          <a:xfrm>
            <a:off x="6126480" y="2468880"/>
            <a:ext cx="1280160" cy="594360"/>
          </a:xfrm>
          <a:prstGeom prst="rect">
            <a:avLst/>
          </a:prstGeom>
          <a:noFill/>
          <a:ln/>
        </p:spPr>
        <p:txBody>
          <a:bodyPr wrap="square" lIns="91440" tIns="45720" rIns="91440" bIns="45720" rtlCol="0" anchor="ctr"/>
          <a:lstStyle/>
          <a:p>
            <a:pPr marL="0" indent="0" algn="ctr">
              <a:buNone/>
            </a:pPr>
            <a:r>
              <a:rPr lang="en-US" sz="3000" b="1">
                <a:solidFill>
                  <a:srgbClr val="FF5252"/>
                </a:solidFill>
                <a:ea typeface="Calibri"/>
                <a:cs typeface="Calibri"/>
              </a:rPr>
              <a:t>0</a:t>
            </a:r>
            <a:endParaRPr lang="en-US" sz="3000" b="1" dirty="0">
              <a:solidFill>
                <a:srgbClr val="FF5252"/>
              </a:solidFill>
              <a:ea typeface="Calibri"/>
              <a:cs typeface="Calibri"/>
            </a:endParaRPr>
          </a:p>
        </p:txBody>
      </p:sp>
      <p:sp>
        <p:nvSpPr>
          <p:cNvPr id="32" name="Text 28"/>
          <p:cNvSpPr/>
          <p:nvPr/>
        </p:nvSpPr>
        <p:spPr>
          <a:xfrm>
            <a:off x="6126480" y="3063240"/>
            <a:ext cx="1280160" cy="411480"/>
          </a:xfrm>
          <a:prstGeom prst="rect">
            <a:avLst/>
          </a:prstGeom>
          <a:noFill/>
          <a:ln/>
        </p:spPr>
        <p:txBody>
          <a:bodyPr wrap="square" rtlCol="0" anchor="ctr"/>
          <a:lstStyle/>
          <a:p>
            <a:pPr marL="0" indent="0" algn="ctr">
              <a:buNone/>
            </a:pPr>
            <a:r>
              <a:rPr lang="en-US" sz="1000" dirty="0">
                <a:solidFill>
                  <a:srgbClr val="8892A4"/>
                </a:solidFill>
                <a:latin typeface="Calibri" pitchFamily="34" charset="0"/>
                <a:ea typeface="Calibri" pitchFamily="34" charset="-122"/>
                <a:cs typeface="Calibri" pitchFamily="34" charset="-120"/>
              </a:rPr>
              <a:t>Failed</a:t>
            </a:r>
            <a:endParaRPr lang="en-US" sz="1000" dirty="0"/>
          </a:p>
        </p:txBody>
      </p:sp>
      <p:sp>
        <p:nvSpPr>
          <p:cNvPr id="33" name="Shape 29"/>
          <p:cNvSpPr/>
          <p:nvPr/>
        </p:nvSpPr>
        <p:spPr>
          <a:xfrm>
            <a:off x="7589520" y="2377440"/>
            <a:ext cx="1280160" cy="1188720"/>
          </a:xfrm>
          <a:prstGeom prst="roundRect">
            <a:avLst>
              <a:gd name="adj" fmla="val 6154"/>
            </a:avLst>
          </a:prstGeom>
          <a:solidFill>
            <a:srgbClr val="141B2D"/>
          </a:solidFill>
          <a:ln w="12700">
            <a:solidFill>
              <a:srgbClr val="FFB300"/>
            </a:solidFill>
            <a:prstDash val="solid"/>
          </a:ln>
        </p:spPr>
      </p:sp>
      <p:sp>
        <p:nvSpPr>
          <p:cNvPr id="34" name="Text 30"/>
          <p:cNvSpPr/>
          <p:nvPr/>
        </p:nvSpPr>
        <p:spPr>
          <a:xfrm>
            <a:off x="7589520" y="2468880"/>
            <a:ext cx="1280160" cy="594360"/>
          </a:xfrm>
          <a:prstGeom prst="rect">
            <a:avLst/>
          </a:prstGeom>
          <a:noFill/>
          <a:ln/>
        </p:spPr>
        <p:txBody>
          <a:bodyPr wrap="square" lIns="91440" tIns="45720" rIns="91440" bIns="45720" rtlCol="0" anchor="ctr"/>
          <a:lstStyle/>
          <a:p>
            <a:pPr marL="0" indent="0" algn="ctr">
              <a:buNone/>
            </a:pPr>
            <a:r>
              <a:rPr lang="en-US" sz="3000" b="1">
                <a:solidFill>
                  <a:srgbClr val="FFB300"/>
                </a:solidFill>
                <a:ea typeface="Calibri"/>
                <a:cs typeface="Calibri"/>
              </a:rPr>
              <a:t>4</a:t>
            </a:r>
            <a:endParaRPr lang="en-US" sz="3000" b="1" dirty="0">
              <a:solidFill>
                <a:srgbClr val="FFB300"/>
              </a:solidFill>
              <a:ea typeface="Calibri"/>
              <a:cs typeface="Calibri"/>
            </a:endParaRPr>
          </a:p>
        </p:txBody>
      </p:sp>
      <p:sp>
        <p:nvSpPr>
          <p:cNvPr id="35" name="Text 31"/>
          <p:cNvSpPr/>
          <p:nvPr/>
        </p:nvSpPr>
        <p:spPr>
          <a:xfrm>
            <a:off x="7589520" y="3063240"/>
            <a:ext cx="1280160" cy="411480"/>
          </a:xfrm>
          <a:prstGeom prst="rect">
            <a:avLst/>
          </a:prstGeom>
          <a:noFill/>
          <a:ln/>
        </p:spPr>
        <p:txBody>
          <a:bodyPr wrap="square" rtlCol="0" anchor="ctr"/>
          <a:lstStyle/>
          <a:p>
            <a:pPr marL="0" indent="0" algn="ctr">
              <a:buNone/>
            </a:pPr>
            <a:r>
              <a:rPr lang="en-US" sz="1000" dirty="0">
                <a:solidFill>
                  <a:srgbClr val="8892A4"/>
                </a:solidFill>
                <a:latin typeface="Calibri" pitchFamily="34" charset="0"/>
                <a:ea typeface="Calibri" pitchFamily="34" charset="-122"/>
                <a:cs typeface="Calibri" pitchFamily="34" charset="-120"/>
              </a:rPr>
              <a:t>Bugs</a:t>
            </a:r>
            <a:endParaRPr lang="en-US" sz="1000" dirty="0"/>
          </a:p>
        </p:txBody>
      </p:sp>
      <p:graphicFrame>
        <p:nvGraphicFramePr>
          <p:cNvPr id="36" name="Chart 0" hidden="1"/>
          <p:cNvGraphicFramePr/>
          <p:nvPr>
            <p:extLst>
              <p:ext uri="{D42A27DB-BD31-4B8C-83A1-F6EECF244321}">
                <p14:modId xmlns:p14="http://schemas.microsoft.com/office/powerpoint/2010/main" val="402798507"/>
              </p:ext>
            </p:extLst>
          </p:nvPr>
        </p:nvGraphicFramePr>
        <p:xfrm>
          <a:off x="152401" y="2831374"/>
          <a:ext cx="52251" cy="428896"/>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37" name="Chart 36" hidden="1">
            <a:extLst>
              <a:ext uri="{FF2B5EF4-FFF2-40B4-BE49-F238E27FC236}">
                <a16:creationId xmlns:a16="http://schemas.microsoft.com/office/drawing/2014/main" id="{2A74FC00-7AD4-1A07-6F67-097416118A75}"/>
              </a:ext>
            </a:extLst>
          </p:cNvPr>
          <p:cNvGraphicFramePr/>
          <p:nvPr>
            <p:extLst>
              <p:ext uri="{D42A27DB-BD31-4B8C-83A1-F6EECF244321}">
                <p14:modId xmlns:p14="http://schemas.microsoft.com/office/powerpoint/2010/main" val="1729689746"/>
              </p:ext>
            </p:extLst>
          </p:nvPr>
        </p:nvGraphicFramePr>
        <p:xfrm>
          <a:off x="5851071" y="3138715"/>
          <a:ext cx="2509157" cy="2342470"/>
        </p:xfrm>
        <a:graphic>
          <a:graphicData uri="http://schemas.openxmlformats.org/drawingml/2006/chart">
            <c:chart xmlns:c="http://schemas.openxmlformats.org/drawingml/2006/chart" xmlns:r="http://schemas.openxmlformats.org/officeDocument/2006/relationships" r:id="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A"/>
        </a:solidFill>
        <a:effectLst/>
      </p:bgPr>
    </p:bg>
    <p:spTree>
      <p:nvGrpSpPr>
        <p:cNvPr id="1" name=""/>
        <p:cNvGrpSpPr/>
        <p:nvPr/>
      </p:nvGrpSpPr>
      <p:grpSpPr>
        <a:xfrm>
          <a:off x="0" y="0"/>
          <a:ext cx="0" cy="0"/>
          <a:chOff x="0" y="0"/>
          <a:chExt cx="0" cy="0"/>
        </a:xfrm>
      </p:grpSpPr>
      <p:sp>
        <p:nvSpPr>
          <p:cNvPr id="4" name="Shape 0"/>
          <p:cNvSpPr/>
          <p:nvPr/>
        </p:nvSpPr>
        <p:spPr>
          <a:xfrm>
            <a:off x="567558" y="0"/>
            <a:ext cx="8576441" cy="1005840"/>
          </a:xfrm>
          <a:prstGeom prst="rect">
            <a:avLst/>
          </a:prstGeom>
          <a:solidFill>
            <a:srgbClr val="141B2D"/>
          </a:solidFill>
          <a:ln w="12700">
            <a:solidFill>
              <a:srgbClr val="1E2D4A"/>
            </a:solidFill>
            <a:prstDash val="solid"/>
          </a:ln>
        </p:spPr>
      </p:sp>
      <p:pic>
        <p:nvPicPr>
          <p:cNvPr id="2" name="Image 0" descr="preencoded.png"/>
          <p:cNvPicPr>
            <a:picLocks noChangeAspect="1"/>
          </p:cNvPicPr>
          <p:nvPr/>
        </p:nvPicPr>
        <p:blipFill>
          <a:blip r:embed="rId3"/>
          <a:stretch>
            <a:fillRect/>
          </a:stretch>
        </p:blipFill>
        <p:spPr>
          <a:xfrm>
            <a:off x="109728" y="73152"/>
            <a:ext cx="658368" cy="658368"/>
          </a:xfrm>
          <a:prstGeom prst="ellipse">
            <a:avLst/>
          </a:prstGeom>
        </p:spPr>
      </p:pic>
      <p:pic>
        <p:nvPicPr>
          <p:cNvPr id="3" name="Image 1" descr="preencoded.png"/>
          <p:cNvPicPr>
            <a:picLocks noChangeAspect="1"/>
          </p:cNvPicPr>
          <p:nvPr/>
        </p:nvPicPr>
        <p:blipFill>
          <a:blip r:embed="rId4"/>
          <a:stretch>
            <a:fillRect/>
          </a:stretch>
        </p:blipFill>
        <p:spPr>
          <a:xfrm>
            <a:off x="8375904" y="73152"/>
            <a:ext cx="658368" cy="658368"/>
          </a:xfrm>
          <a:prstGeom prst="rect">
            <a:avLst/>
          </a:prstGeom>
        </p:spPr>
      </p:pic>
      <p:sp>
        <p:nvSpPr>
          <p:cNvPr id="5" name="Shape 1"/>
          <p:cNvSpPr/>
          <p:nvPr/>
        </p:nvSpPr>
        <p:spPr>
          <a:xfrm>
            <a:off x="0" y="0"/>
            <a:ext cx="9144000" cy="54864"/>
          </a:xfrm>
          <a:prstGeom prst="rect">
            <a:avLst/>
          </a:prstGeom>
          <a:solidFill>
            <a:srgbClr val="6C63FF"/>
          </a:solidFill>
          <a:ln w="12700">
            <a:solidFill>
              <a:srgbClr val="6C63FF"/>
            </a:solidFill>
            <a:prstDash val="solid"/>
          </a:ln>
        </p:spPr>
      </p:sp>
      <p:sp>
        <p:nvSpPr>
          <p:cNvPr id="6" name="Text 2"/>
          <p:cNvSpPr/>
          <p:nvPr/>
        </p:nvSpPr>
        <p:spPr>
          <a:xfrm>
            <a:off x="932688" y="137160"/>
            <a:ext cx="4919472" cy="548640"/>
          </a:xfrm>
          <a:prstGeom prst="rect">
            <a:avLst/>
          </a:prstGeom>
          <a:noFill/>
          <a:ln/>
        </p:spPr>
        <p:txBody>
          <a:bodyPr wrap="square" rtlCol="0" anchor="ctr"/>
          <a:lstStyle/>
          <a:p>
            <a:pPr marL="0" indent="0">
              <a:buNone/>
            </a:pPr>
            <a:r>
              <a:rPr lang="en-US" sz="2600" b="1" dirty="0">
                <a:solidFill>
                  <a:srgbClr val="F1F5FB"/>
                </a:solidFill>
                <a:latin typeface="Calibri" pitchFamily="34" charset="0"/>
                <a:ea typeface="Calibri" pitchFamily="34" charset="-122"/>
                <a:cs typeface="Calibri" pitchFamily="34" charset="-120"/>
              </a:rPr>
              <a:t>Project Overview</a:t>
            </a:r>
            <a:endParaRPr lang="en-US" sz="2600" dirty="0"/>
          </a:p>
        </p:txBody>
      </p:sp>
      <p:sp>
        <p:nvSpPr>
          <p:cNvPr id="7" name="Text 3"/>
          <p:cNvSpPr/>
          <p:nvPr/>
        </p:nvSpPr>
        <p:spPr>
          <a:xfrm>
            <a:off x="932688" y="621792"/>
            <a:ext cx="4919472" cy="320040"/>
          </a:xfrm>
          <a:prstGeom prst="rect">
            <a:avLst/>
          </a:prstGeom>
          <a:noFill/>
          <a:ln/>
        </p:spPr>
        <p:txBody>
          <a:bodyPr wrap="square" rtlCol="0" anchor="ctr"/>
          <a:lstStyle/>
          <a:p>
            <a:pPr marL="0" indent="0">
              <a:buNone/>
            </a:pPr>
            <a:r>
              <a:rPr lang="en-US" sz="1100" dirty="0">
                <a:solidFill>
                  <a:srgbClr val="8892A4"/>
                </a:solidFill>
                <a:latin typeface="Calibri" pitchFamily="34" charset="0"/>
                <a:ea typeface="Calibri" pitchFamily="34" charset="-122"/>
                <a:cs typeface="Calibri" pitchFamily="34" charset="-120"/>
              </a:rPr>
              <a:t>Team · Tech Stack · Supervisor</a:t>
            </a:r>
            <a:endParaRPr lang="en-US" sz="1100" dirty="0"/>
          </a:p>
        </p:txBody>
      </p:sp>
      <p:sp>
        <p:nvSpPr>
          <p:cNvPr id="8" name="Text 4"/>
          <p:cNvSpPr/>
          <p:nvPr/>
        </p:nvSpPr>
        <p:spPr>
          <a:xfrm>
            <a:off x="365760" y="1143000"/>
            <a:ext cx="3657600" cy="365760"/>
          </a:xfrm>
          <a:prstGeom prst="rect">
            <a:avLst/>
          </a:prstGeom>
          <a:noFill/>
          <a:ln/>
        </p:spPr>
        <p:txBody>
          <a:bodyPr wrap="square" rtlCol="0" anchor="ctr"/>
          <a:lstStyle/>
          <a:p>
            <a:pPr marL="0" indent="0">
              <a:buNone/>
            </a:pPr>
            <a:r>
              <a:rPr lang="en-US" sz="1400" b="1" dirty="0">
                <a:solidFill>
                  <a:srgbClr val="4FC3F7"/>
                </a:solidFill>
                <a:latin typeface="Calibri" pitchFamily="34" charset="0"/>
                <a:ea typeface="Calibri" pitchFamily="34" charset="-122"/>
                <a:cs typeface="Calibri" pitchFamily="34" charset="-120"/>
              </a:rPr>
              <a:t>The Team</a:t>
            </a:r>
            <a:endParaRPr lang="en-US" sz="1400" dirty="0"/>
          </a:p>
        </p:txBody>
      </p:sp>
      <p:sp>
        <p:nvSpPr>
          <p:cNvPr id="9" name="Shape 5"/>
          <p:cNvSpPr/>
          <p:nvPr/>
        </p:nvSpPr>
        <p:spPr>
          <a:xfrm>
            <a:off x="274320" y="1576251"/>
            <a:ext cx="2743200" cy="914400"/>
          </a:xfrm>
          <a:prstGeom prst="roundRect">
            <a:avLst>
              <a:gd name="adj" fmla="val 8000"/>
            </a:avLst>
          </a:prstGeom>
          <a:solidFill>
            <a:srgbClr val="1A2340"/>
          </a:solidFill>
          <a:ln w="12700">
            <a:solidFill>
              <a:srgbClr val="6C63FF"/>
            </a:solidFill>
            <a:prstDash val="solid"/>
          </a:ln>
        </p:spPr>
      </p:sp>
      <p:sp>
        <p:nvSpPr>
          <p:cNvPr id="10" name="Shape 6"/>
          <p:cNvSpPr/>
          <p:nvPr/>
        </p:nvSpPr>
        <p:spPr>
          <a:xfrm>
            <a:off x="384048" y="1783080"/>
            <a:ext cx="457200" cy="457200"/>
          </a:xfrm>
          <a:prstGeom prst="ellipse">
            <a:avLst/>
          </a:prstGeom>
          <a:solidFill>
            <a:srgbClr val="6C63FF">
              <a:alpha val="80000"/>
            </a:srgbClr>
          </a:solidFill>
          <a:ln w="12700">
            <a:solidFill>
              <a:srgbClr val="6C63FF"/>
            </a:solidFill>
            <a:prstDash val="solid"/>
          </a:ln>
        </p:spPr>
      </p:sp>
      <p:sp>
        <p:nvSpPr>
          <p:cNvPr id="11" name="Text 7"/>
          <p:cNvSpPr/>
          <p:nvPr/>
        </p:nvSpPr>
        <p:spPr>
          <a:xfrm>
            <a:off x="384048" y="1783080"/>
            <a:ext cx="457200" cy="457200"/>
          </a:xfrm>
          <a:prstGeom prst="rect">
            <a:avLst/>
          </a:prstGeom>
          <a:noFill/>
          <a:ln/>
        </p:spPr>
        <p:txBody>
          <a:bodyPr wrap="square" lIns="91440" tIns="45720" rIns="91440" bIns="45720" rtlCol="0" anchor="ctr"/>
          <a:lstStyle/>
          <a:p>
            <a:pPr marL="0" indent="0" algn="ctr">
              <a:buNone/>
            </a:pPr>
            <a:r>
              <a:rPr lang="en-US" sz="1400" b="1">
                <a:solidFill>
                  <a:srgbClr val="F1F5FB"/>
                </a:solidFill>
                <a:latin typeface="Calibri"/>
                <a:ea typeface="Calibri"/>
                <a:cs typeface="Calibri"/>
              </a:rPr>
              <a:t>J</a:t>
            </a:r>
            <a:endParaRPr lang="en-US" sz="1400" b="1" dirty="0">
              <a:solidFill>
                <a:srgbClr val="F1F5FB"/>
              </a:solidFill>
              <a:ea typeface="Calibri"/>
              <a:cs typeface="Calibri"/>
            </a:endParaRPr>
          </a:p>
        </p:txBody>
      </p:sp>
      <p:sp>
        <p:nvSpPr>
          <p:cNvPr id="12" name="Text 8"/>
          <p:cNvSpPr/>
          <p:nvPr/>
        </p:nvSpPr>
        <p:spPr>
          <a:xfrm>
            <a:off x="932688" y="1664208"/>
            <a:ext cx="2011680" cy="347472"/>
          </a:xfrm>
          <a:prstGeom prst="rect">
            <a:avLst/>
          </a:prstGeom>
          <a:noFill/>
          <a:ln/>
        </p:spPr>
        <p:txBody>
          <a:bodyPr wrap="square" lIns="91440" tIns="45720" rIns="91440" bIns="45720" rtlCol="0" anchor="ctr"/>
          <a:lstStyle/>
          <a:p>
            <a:r>
              <a:rPr lang="en-US" sz="1300" b="1" dirty="0">
                <a:solidFill>
                  <a:srgbClr val="F1F5FB"/>
                </a:solidFill>
                <a:ea typeface="Calibri"/>
                <a:cs typeface="Calibri"/>
              </a:rPr>
              <a:t>Jana </a:t>
            </a:r>
            <a:r>
              <a:rPr lang="en-US" sz="1300" b="1">
                <a:solidFill>
                  <a:srgbClr val="F1F5FB"/>
                </a:solidFill>
                <a:ea typeface="Calibri"/>
                <a:cs typeface="Calibri"/>
              </a:rPr>
              <a:t>Mohamed</a:t>
            </a:r>
            <a:endParaRPr lang="en-US" sz="1300" b="1" dirty="0">
              <a:solidFill>
                <a:srgbClr val="F1F5FB"/>
              </a:solidFill>
              <a:ea typeface="Calibri"/>
              <a:cs typeface="Calibri"/>
            </a:endParaRPr>
          </a:p>
        </p:txBody>
      </p:sp>
      <p:sp>
        <p:nvSpPr>
          <p:cNvPr id="13" name="Text 9"/>
          <p:cNvSpPr/>
          <p:nvPr/>
        </p:nvSpPr>
        <p:spPr>
          <a:xfrm>
            <a:off x="932688" y="2011680"/>
            <a:ext cx="2011680" cy="292608"/>
          </a:xfrm>
          <a:prstGeom prst="rect">
            <a:avLst/>
          </a:prstGeom>
          <a:noFill/>
          <a:ln/>
        </p:spPr>
        <p:txBody>
          <a:bodyPr wrap="square" rtlCol="0" anchor="ctr"/>
          <a:lstStyle/>
          <a:p>
            <a:pPr marL="0" indent="0">
              <a:buNone/>
            </a:pPr>
            <a:r>
              <a:rPr lang="en-US" sz="1000" dirty="0">
                <a:solidFill>
                  <a:srgbClr val="6C63FF"/>
                </a:solidFill>
                <a:latin typeface="Calibri" pitchFamily="34" charset="0"/>
                <a:ea typeface="Calibri" pitchFamily="34" charset="-122"/>
                <a:cs typeface="Calibri" pitchFamily="34" charset="-120"/>
              </a:rPr>
              <a:t>Team Leader</a:t>
            </a:r>
            <a:endParaRPr lang="en-US" sz="1000" dirty="0"/>
          </a:p>
        </p:txBody>
      </p:sp>
      <p:sp>
        <p:nvSpPr>
          <p:cNvPr id="14" name="Shape 10"/>
          <p:cNvSpPr/>
          <p:nvPr/>
        </p:nvSpPr>
        <p:spPr>
          <a:xfrm>
            <a:off x="3200400" y="1554480"/>
            <a:ext cx="2743200" cy="914400"/>
          </a:xfrm>
          <a:prstGeom prst="roundRect">
            <a:avLst>
              <a:gd name="adj" fmla="val 8000"/>
            </a:avLst>
          </a:prstGeom>
          <a:solidFill>
            <a:srgbClr val="1A2340"/>
          </a:solidFill>
          <a:ln w="12700">
            <a:solidFill>
              <a:srgbClr val="4FC3F7"/>
            </a:solidFill>
            <a:prstDash val="solid"/>
          </a:ln>
        </p:spPr>
      </p:sp>
      <p:sp>
        <p:nvSpPr>
          <p:cNvPr id="15" name="Shape 11"/>
          <p:cNvSpPr/>
          <p:nvPr/>
        </p:nvSpPr>
        <p:spPr>
          <a:xfrm>
            <a:off x="3310128" y="1783080"/>
            <a:ext cx="457200" cy="457200"/>
          </a:xfrm>
          <a:prstGeom prst="ellipse">
            <a:avLst/>
          </a:prstGeom>
          <a:solidFill>
            <a:srgbClr val="4FC3F7">
              <a:alpha val="80000"/>
            </a:srgbClr>
          </a:solidFill>
          <a:ln w="12700">
            <a:solidFill>
              <a:srgbClr val="4FC3F7"/>
            </a:solidFill>
            <a:prstDash val="solid"/>
          </a:ln>
        </p:spPr>
      </p:sp>
      <p:sp>
        <p:nvSpPr>
          <p:cNvPr id="16" name="Text 12"/>
          <p:cNvSpPr/>
          <p:nvPr/>
        </p:nvSpPr>
        <p:spPr>
          <a:xfrm>
            <a:off x="3310128" y="1783080"/>
            <a:ext cx="457200" cy="457200"/>
          </a:xfrm>
          <a:prstGeom prst="rect">
            <a:avLst/>
          </a:prstGeom>
          <a:noFill/>
          <a:ln/>
        </p:spPr>
        <p:txBody>
          <a:bodyPr wrap="square" lIns="91440" tIns="45720" rIns="91440" bIns="45720" rtlCol="0" anchor="ctr"/>
          <a:lstStyle/>
          <a:p>
            <a:pPr marL="0" indent="0" algn="ctr">
              <a:buNone/>
            </a:pPr>
            <a:r>
              <a:rPr lang="en-US" sz="1400" b="1">
                <a:solidFill>
                  <a:srgbClr val="F1F5FB"/>
                </a:solidFill>
                <a:ea typeface="Calibri"/>
                <a:cs typeface="Calibri"/>
              </a:rPr>
              <a:t>J</a:t>
            </a:r>
            <a:endParaRPr lang="en-US" sz="1400" b="1" dirty="0">
              <a:solidFill>
                <a:srgbClr val="F1F5FB"/>
              </a:solidFill>
              <a:ea typeface="Calibri"/>
              <a:cs typeface="Calibri"/>
            </a:endParaRPr>
          </a:p>
        </p:txBody>
      </p:sp>
      <p:sp>
        <p:nvSpPr>
          <p:cNvPr id="17" name="Text 13"/>
          <p:cNvSpPr/>
          <p:nvPr/>
        </p:nvSpPr>
        <p:spPr>
          <a:xfrm>
            <a:off x="3858768" y="1664208"/>
            <a:ext cx="2011680" cy="347472"/>
          </a:xfrm>
          <a:prstGeom prst="rect">
            <a:avLst/>
          </a:prstGeom>
          <a:noFill/>
          <a:ln/>
        </p:spPr>
        <p:txBody>
          <a:bodyPr wrap="square" lIns="91440" tIns="45720" rIns="91440" bIns="45720" rtlCol="0" anchor="ctr"/>
          <a:lstStyle/>
          <a:p>
            <a:r>
              <a:rPr lang="en-US" sz="1300" b="1">
                <a:solidFill>
                  <a:srgbClr val="F1F5FB"/>
                </a:solidFill>
                <a:ea typeface="Calibri"/>
                <a:cs typeface="Calibri"/>
              </a:rPr>
              <a:t>Juliana George</a:t>
            </a:r>
            <a:endParaRPr lang="en-US" sz="1300" b="1" dirty="0">
              <a:solidFill>
                <a:srgbClr val="F1F5FB"/>
              </a:solidFill>
              <a:ea typeface="Calibri"/>
              <a:cs typeface="Calibri"/>
            </a:endParaRPr>
          </a:p>
        </p:txBody>
      </p:sp>
      <p:sp>
        <p:nvSpPr>
          <p:cNvPr id="18" name="Text 14"/>
          <p:cNvSpPr/>
          <p:nvPr/>
        </p:nvSpPr>
        <p:spPr>
          <a:xfrm>
            <a:off x="3858768" y="2011680"/>
            <a:ext cx="2011680" cy="292608"/>
          </a:xfrm>
          <a:prstGeom prst="rect">
            <a:avLst/>
          </a:prstGeom>
          <a:noFill/>
          <a:ln/>
        </p:spPr>
        <p:txBody>
          <a:bodyPr wrap="square" rtlCol="0" anchor="ctr"/>
          <a:lstStyle/>
          <a:p>
            <a:pPr marL="0" indent="0">
              <a:buNone/>
            </a:pPr>
            <a:r>
              <a:rPr lang="en-US" sz="1000" dirty="0">
                <a:solidFill>
                  <a:srgbClr val="4FC3F7"/>
                </a:solidFill>
                <a:latin typeface="Calibri" pitchFamily="34" charset="0"/>
                <a:ea typeface="Calibri" pitchFamily="34" charset="-122"/>
                <a:cs typeface="Calibri" pitchFamily="34" charset="-120"/>
              </a:rPr>
              <a:t>QA Engineer</a:t>
            </a:r>
            <a:endParaRPr lang="en-US" sz="1000" dirty="0"/>
          </a:p>
        </p:txBody>
      </p:sp>
      <p:sp>
        <p:nvSpPr>
          <p:cNvPr id="19" name="Shape 15"/>
          <p:cNvSpPr/>
          <p:nvPr/>
        </p:nvSpPr>
        <p:spPr>
          <a:xfrm>
            <a:off x="274320" y="2651760"/>
            <a:ext cx="2743200" cy="914400"/>
          </a:xfrm>
          <a:prstGeom prst="roundRect">
            <a:avLst>
              <a:gd name="adj" fmla="val 8000"/>
            </a:avLst>
          </a:prstGeom>
          <a:solidFill>
            <a:srgbClr val="1A2340"/>
          </a:solidFill>
          <a:ln w="12700">
            <a:solidFill>
              <a:srgbClr val="00E676"/>
            </a:solidFill>
            <a:prstDash val="solid"/>
          </a:ln>
        </p:spPr>
      </p:sp>
      <p:sp>
        <p:nvSpPr>
          <p:cNvPr id="20" name="Shape 16"/>
          <p:cNvSpPr/>
          <p:nvPr/>
        </p:nvSpPr>
        <p:spPr>
          <a:xfrm>
            <a:off x="384048" y="2880360"/>
            <a:ext cx="457200" cy="457200"/>
          </a:xfrm>
          <a:prstGeom prst="ellipse">
            <a:avLst/>
          </a:prstGeom>
          <a:solidFill>
            <a:srgbClr val="00E676">
              <a:alpha val="80000"/>
            </a:srgbClr>
          </a:solidFill>
          <a:ln w="12700">
            <a:solidFill>
              <a:srgbClr val="00E676"/>
            </a:solidFill>
            <a:prstDash val="solid"/>
          </a:ln>
        </p:spPr>
      </p:sp>
      <p:sp>
        <p:nvSpPr>
          <p:cNvPr id="21" name="Text 17"/>
          <p:cNvSpPr/>
          <p:nvPr/>
        </p:nvSpPr>
        <p:spPr>
          <a:xfrm>
            <a:off x="384048" y="2880360"/>
            <a:ext cx="457200" cy="457200"/>
          </a:xfrm>
          <a:prstGeom prst="rect">
            <a:avLst/>
          </a:prstGeom>
          <a:noFill/>
          <a:ln/>
        </p:spPr>
        <p:txBody>
          <a:bodyPr wrap="square" lIns="91440" tIns="45720" rIns="91440" bIns="45720" rtlCol="0" anchor="ctr"/>
          <a:lstStyle/>
          <a:p>
            <a:pPr marL="0" indent="0" algn="ctr">
              <a:buNone/>
            </a:pPr>
            <a:r>
              <a:rPr lang="en-US" sz="1400" b="1">
                <a:solidFill>
                  <a:srgbClr val="F1F5FB"/>
                </a:solidFill>
                <a:ea typeface="Calibri"/>
                <a:cs typeface="Calibri"/>
              </a:rPr>
              <a:t>W</a:t>
            </a:r>
            <a:endParaRPr lang="en-US" sz="1400" b="1" dirty="0">
              <a:solidFill>
                <a:srgbClr val="F1F5FB"/>
              </a:solidFill>
              <a:ea typeface="Calibri"/>
              <a:cs typeface="Calibri"/>
            </a:endParaRPr>
          </a:p>
        </p:txBody>
      </p:sp>
      <p:sp>
        <p:nvSpPr>
          <p:cNvPr id="22" name="Text 18"/>
          <p:cNvSpPr/>
          <p:nvPr/>
        </p:nvSpPr>
        <p:spPr>
          <a:xfrm>
            <a:off x="932688" y="2761488"/>
            <a:ext cx="2011680" cy="347472"/>
          </a:xfrm>
          <a:prstGeom prst="rect">
            <a:avLst/>
          </a:prstGeom>
          <a:noFill/>
          <a:ln/>
        </p:spPr>
        <p:txBody>
          <a:bodyPr wrap="square" lIns="91440" tIns="45720" rIns="91440" bIns="45720" rtlCol="0" anchor="ctr"/>
          <a:lstStyle/>
          <a:p>
            <a:r>
              <a:rPr lang="en-US" sz="1300" b="1">
                <a:solidFill>
                  <a:srgbClr val="F1F5FB"/>
                </a:solidFill>
                <a:ea typeface="Calibri"/>
                <a:cs typeface="Calibri"/>
              </a:rPr>
              <a:t>Waad Ahmed</a:t>
            </a:r>
            <a:endParaRPr lang="en-US" sz="1300" b="1" dirty="0">
              <a:solidFill>
                <a:srgbClr val="F1F5FB"/>
              </a:solidFill>
              <a:ea typeface="Calibri"/>
              <a:cs typeface="Calibri"/>
            </a:endParaRPr>
          </a:p>
        </p:txBody>
      </p:sp>
      <p:sp>
        <p:nvSpPr>
          <p:cNvPr id="23" name="Text 19"/>
          <p:cNvSpPr/>
          <p:nvPr/>
        </p:nvSpPr>
        <p:spPr>
          <a:xfrm>
            <a:off x="932688" y="3108960"/>
            <a:ext cx="2011680" cy="292608"/>
          </a:xfrm>
          <a:prstGeom prst="rect">
            <a:avLst/>
          </a:prstGeom>
          <a:noFill/>
          <a:ln/>
        </p:spPr>
        <p:txBody>
          <a:bodyPr wrap="square" rtlCol="0" anchor="ctr"/>
          <a:lstStyle/>
          <a:p>
            <a:pPr marL="0" indent="0">
              <a:buNone/>
            </a:pPr>
            <a:r>
              <a:rPr lang="en-US" sz="1000" dirty="0">
                <a:solidFill>
                  <a:srgbClr val="00E676"/>
                </a:solidFill>
                <a:latin typeface="Calibri" pitchFamily="34" charset="0"/>
                <a:ea typeface="Calibri" pitchFamily="34" charset="-122"/>
                <a:cs typeface="Calibri" pitchFamily="34" charset="-120"/>
              </a:rPr>
              <a:t>QA Engineer</a:t>
            </a:r>
            <a:endParaRPr lang="en-US" sz="1000" dirty="0"/>
          </a:p>
        </p:txBody>
      </p:sp>
      <p:sp>
        <p:nvSpPr>
          <p:cNvPr id="24" name="Shape 20"/>
          <p:cNvSpPr/>
          <p:nvPr/>
        </p:nvSpPr>
        <p:spPr>
          <a:xfrm>
            <a:off x="3200400" y="2651760"/>
            <a:ext cx="2743200" cy="914400"/>
          </a:xfrm>
          <a:prstGeom prst="roundRect">
            <a:avLst>
              <a:gd name="adj" fmla="val 8000"/>
            </a:avLst>
          </a:prstGeom>
          <a:solidFill>
            <a:srgbClr val="1A2340"/>
          </a:solidFill>
          <a:ln w="12700">
            <a:solidFill>
              <a:srgbClr val="FFB300"/>
            </a:solidFill>
            <a:prstDash val="solid"/>
          </a:ln>
        </p:spPr>
      </p:sp>
      <p:sp>
        <p:nvSpPr>
          <p:cNvPr id="25" name="Shape 21"/>
          <p:cNvSpPr/>
          <p:nvPr/>
        </p:nvSpPr>
        <p:spPr>
          <a:xfrm>
            <a:off x="3310128" y="2880360"/>
            <a:ext cx="457200" cy="457200"/>
          </a:xfrm>
          <a:prstGeom prst="ellipse">
            <a:avLst/>
          </a:prstGeom>
          <a:solidFill>
            <a:srgbClr val="FFB300">
              <a:alpha val="80000"/>
            </a:srgbClr>
          </a:solidFill>
          <a:ln w="12700">
            <a:solidFill>
              <a:srgbClr val="FFB300"/>
            </a:solidFill>
            <a:prstDash val="solid"/>
          </a:ln>
        </p:spPr>
      </p:sp>
      <p:sp>
        <p:nvSpPr>
          <p:cNvPr id="26" name="Text 22"/>
          <p:cNvSpPr/>
          <p:nvPr/>
        </p:nvSpPr>
        <p:spPr>
          <a:xfrm>
            <a:off x="3310128" y="2880360"/>
            <a:ext cx="457200" cy="457200"/>
          </a:xfrm>
          <a:prstGeom prst="rect">
            <a:avLst/>
          </a:prstGeom>
          <a:noFill/>
          <a:ln/>
        </p:spPr>
        <p:txBody>
          <a:bodyPr wrap="square" lIns="91440" tIns="45720" rIns="91440" bIns="45720" rtlCol="0" anchor="ctr"/>
          <a:lstStyle/>
          <a:p>
            <a:pPr marL="0" indent="0" algn="ctr">
              <a:buNone/>
            </a:pPr>
            <a:r>
              <a:rPr lang="en-US" sz="1400" b="1">
                <a:solidFill>
                  <a:srgbClr val="F1F5FB"/>
                </a:solidFill>
                <a:ea typeface="Calibri"/>
                <a:cs typeface="Calibri"/>
              </a:rPr>
              <a:t>R</a:t>
            </a:r>
            <a:endParaRPr lang="en-US" sz="1400" b="1" dirty="0">
              <a:solidFill>
                <a:srgbClr val="F1F5FB"/>
              </a:solidFill>
              <a:ea typeface="Calibri"/>
              <a:cs typeface="Calibri"/>
            </a:endParaRPr>
          </a:p>
        </p:txBody>
      </p:sp>
      <p:sp>
        <p:nvSpPr>
          <p:cNvPr id="27" name="Text 23"/>
          <p:cNvSpPr/>
          <p:nvPr/>
        </p:nvSpPr>
        <p:spPr>
          <a:xfrm>
            <a:off x="3858768" y="2761488"/>
            <a:ext cx="2011680" cy="347472"/>
          </a:xfrm>
          <a:prstGeom prst="rect">
            <a:avLst/>
          </a:prstGeom>
          <a:noFill/>
          <a:ln/>
        </p:spPr>
        <p:txBody>
          <a:bodyPr wrap="square" lIns="91440" tIns="45720" rIns="91440" bIns="45720" rtlCol="0" anchor="ctr"/>
          <a:lstStyle/>
          <a:p>
            <a:r>
              <a:rPr lang="en-US" sz="1300" b="1">
                <a:solidFill>
                  <a:srgbClr val="F1F5FB"/>
                </a:solidFill>
                <a:ea typeface="Calibri"/>
                <a:cs typeface="Calibri"/>
              </a:rPr>
              <a:t>Rewan Ahmed</a:t>
            </a:r>
            <a:endParaRPr lang="en-US" sz="1300" b="1" dirty="0">
              <a:solidFill>
                <a:srgbClr val="F1F5FB"/>
              </a:solidFill>
              <a:ea typeface="Calibri"/>
              <a:cs typeface="Calibri"/>
            </a:endParaRPr>
          </a:p>
        </p:txBody>
      </p:sp>
      <p:sp>
        <p:nvSpPr>
          <p:cNvPr id="28" name="Text 24"/>
          <p:cNvSpPr/>
          <p:nvPr/>
        </p:nvSpPr>
        <p:spPr>
          <a:xfrm>
            <a:off x="3858768" y="3108960"/>
            <a:ext cx="2011680" cy="292608"/>
          </a:xfrm>
          <a:prstGeom prst="rect">
            <a:avLst/>
          </a:prstGeom>
          <a:noFill/>
          <a:ln/>
        </p:spPr>
        <p:txBody>
          <a:bodyPr wrap="square" rtlCol="0" anchor="ctr"/>
          <a:lstStyle/>
          <a:p>
            <a:pPr marL="0" indent="0">
              <a:buNone/>
            </a:pPr>
            <a:r>
              <a:rPr lang="en-US" sz="1000" dirty="0">
                <a:solidFill>
                  <a:srgbClr val="FFB300"/>
                </a:solidFill>
                <a:latin typeface="Calibri" pitchFamily="34" charset="0"/>
                <a:ea typeface="Calibri" pitchFamily="34" charset="-122"/>
                <a:cs typeface="Calibri" pitchFamily="34" charset="-120"/>
              </a:rPr>
              <a:t>QA Engineer</a:t>
            </a:r>
            <a:endParaRPr lang="en-US" sz="1000" dirty="0"/>
          </a:p>
        </p:txBody>
      </p:sp>
      <p:sp>
        <p:nvSpPr>
          <p:cNvPr id="29" name="Shape 25"/>
          <p:cNvSpPr/>
          <p:nvPr/>
        </p:nvSpPr>
        <p:spPr>
          <a:xfrm>
            <a:off x="274320" y="3749040"/>
            <a:ext cx="2743200" cy="914400"/>
          </a:xfrm>
          <a:prstGeom prst="roundRect">
            <a:avLst>
              <a:gd name="adj" fmla="val 8000"/>
            </a:avLst>
          </a:prstGeom>
          <a:solidFill>
            <a:srgbClr val="1A2340"/>
          </a:solidFill>
          <a:ln w="12700">
            <a:solidFill>
              <a:srgbClr val="FF5252"/>
            </a:solidFill>
            <a:prstDash val="solid"/>
          </a:ln>
        </p:spPr>
      </p:sp>
      <p:sp>
        <p:nvSpPr>
          <p:cNvPr id="30" name="Shape 26"/>
          <p:cNvSpPr/>
          <p:nvPr/>
        </p:nvSpPr>
        <p:spPr>
          <a:xfrm>
            <a:off x="384048" y="3977640"/>
            <a:ext cx="457200" cy="457200"/>
          </a:xfrm>
          <a:prstGeom prst="ellipse">
            <a:avLst/>
          </a:prstGeom>
          <a:solidFill>
            <a:srgbClr val="FF5252">
              <a:alpha val="80000"/>
            </a:srgbClr>
          </a:solidFill>
          <a:ln w="12700">
            <a:solidFill>
              <a:srgbClr val="FF5252"/>
            </a:solidFill>
            <a:prstDash val="solid"/>
          </a:ln>
        </p:spPr>
      </p:sp>
      <p:sp>
        <p:nvSpPr>
          <p:cNvPr id="31" name="Text 27"/>
          <p:cNvSpPr/>
          <p:nvPr/>
        </p:nvSpPr>
        <p:spPr>
          <a:xfrm>
            <a:off x="384048" y="3977640"/>
            <a:ext cx="457200" cy="457200"/>
          </a:xfrm>
          <a:prstGeom prst="rect">
            <a:avLst/>
          </a:prstGeom>
          <a:noFill/>
          <a:ln/>
        </p:spPr>
        <p:txBody>
          <a:bodyPr wrap="square" lIns="91440" tIns="45720" rIns="91440" bIns="45720" rtlCol="0" anchor="ctr"/>
          <a:lstStyle/>
          <a:p>
            <a:pPr marL="0" indent="0" algn="ctr">
              <a:buNone/>
            </a:pPr>
            <a:r>
              <a:rPr lang="en-US" sz="1400" b="1">
                <a:solidFill>
                  <a:srgbClr val="F1F5FB"/>
                </a:solidFill>
                <a:ea typeface="Calibri"/>
                <a:cs typeface="Calibri"/>
              </a:rPr>
              <a:t>B</a:t>
            </a:r>
          </a:p>
        </p:txBody>
      </p:sp>
      <p:sp>
        <p:nvSpPr>
          <p:cNvPr id="32" name="Text 28"/>
          <p:cNvSpPr/>
          <p:nvPr/>
        </p:nvSpPr>
        <p:spPr>
          <a:xfrm>
            <a:off x="932688" y="3858768"/>
            <a:ext cx="2011680" cy="347472"/>
          </a:xfrm>
          <a:prstGeom prst="rect">
            <a:avLst/>
          </a:prstGeom>
          <a:noFill/>
          <a:ln/>
        </p:spPr>
        <p:txBody>
          <a:bodyPr wrap="square" lIns="91440" tIns="45720" rIns="91440" bIns="45720" rtlCol="0" anchor="ctr"/>
          <a:lstStyle/>
          <a:p>
            <a:r>
              <a:rPr lang="en-US" sz="1300" b="1">
                <a:solidFill>
                  <a:srgbClr val="F1F5FB"/>
                </a:solidFill>
                <a:ea typeface="Calibri"/>
                <a:cs typeface="Calibri"/>
              </a:rPr>
              <a:t>Basmala Mohamed</a:t>
            </a:r>
          </a:p>
        </p:txBody>
      </p:sp>
      <p:sp>
        <p:nvSpPr>
          <p:cNvPr id="33" name="Text 29"/>
          <p:cNvSpPr/>
          <p:nvPr/>
        </p:nvSpPr>
        <p:spPr>
          <a:xfrm>
            <a:off x="932688" y="4206240"/>
            <a:ext cx="2011680" cy="292608"/>
          </a:xfrm>
          <a:prstGeom prst="rect">
            <a:avLst/>
          </a:prstGeom>
          <a:noFill/>
          <a:ln/>
        </p:spPr>
        <p:txBody>
          <a:bodyPr wrap="square" rtlCol="0" anchor="ctr"/>
          <a:lstStyle/>
          <a:p>
            <a:pPr marL="0" indent="0">
              <a:buNone/>
            </a:pPr>
            <a:r>
              <a:rPr lang="en-US" sz="1000" dirty="0">
                <a:solidFill>
                  <a:srgbClr val="FF5252"/>
                </a:solidFill>
                <a:latin typeface="Calibri" pitchFamily="34" charset="0"/>
                <a:ea typeface="Calibri" pitchFamily="34" charset="-122"/>
                <a:cs typeface="Calibri" pitchFamily="34" charset="-120"/>
              </a:rPr>
              <a:t>QA Engineer</a:t>
            </a:r>
            <a:endParaRPr lang="en-US" sz="1000" dirty="0"/>
          </a:p>
        </p:txBody>
      </p:sp>
      <p:sp>
        <p:nvSpPr>
          <p:cNvPr id="34" name="Shape 30"/>
          <p:cNvSpPr/>
          <p:nvPr/>
        </p:nvSpPr>
        <p:spPr>
          <a:xfrm>
            <a:off x="6126480" y="1143000"/>
            <a:ext cx="2834640" cy="868680"/>
          </a:xfrm>
          <a:prstGeom prst="roundRect">
            <a:avLst>
              <a:gd name="adj" fmla="val 8421"/>
            </a:avLst>
          </a:prstGeom>
          <a:solidFill>
            <a:srgbClr val="141B2D"/>
          </a:solidFill>
          <a:ln w="12700">
            <a:solidFill>
              <a:srgbClr val="1E2D4A"/>
            </a:solidFill>
            <a:prstDash val="solid"/>
          </a:ln>
        </p:spPr>
      </p:sp>
      <p:sp>
        <p:nvSpPr>
          <p:cNvPr id="35" name="Text 31"/>
          <p:cNvSpPr/>
          <p:nvPr/>
        </p:nvSpPr>
        <p:spPr>
          <a:xfrm>
            <a:off x="6263640" y="1216152"/>
            <a:ext cx="2651760" cy="274320"/>
          </a:xfrm>
          <a:prstGeom prst="rect">
            <a:avLst/>
          </a:prstGeom>
          <a:noFill/>
          <a:ln/>
        </p:spPr>
        <p:txBody>
          <a:bodyPr wrap="square" rtlCol="0" anchor="ctr"/>
          <a:lstStyle/>
          <a:p>
            <a:pPr marL="0" indent="0">
              <a:buNone/>
            </a:pPr>
            <a:r>
              <a:rPr lang="en-US" sz="1000" b="1" dirty="0">
                <a:solidFill>
                  <a:srgbClr val="4FC3F7"/>
                </a:solidFill>
                <a:latin typeface="Calibri" pitchFamily="34" charset="0"/>
                <a:ea typeface="Calibri" pitchFamily="34" charset="-122"/>
                <a:cs typeface="Calibri" pitchFamily="34" charset="-120"/>
              </a:rPr>
              <a:t>Project Name</a:t>
            </a:r>
            <a:endParaRPr lang="en-US" sz="1000" dirty="0"/>
          </a:p>
        </p:txBody>
      </p:sp>
      <p:sp>
        <p:nvSpPr>
          <p:cNvPr id="36" name="Text 32"/>
          <p:cNvSpPr/>
          <p:nvPr/>
        </p:nvSpPr>
        <p:spPr>
          <a:xfrm>
            <a:off x="6263640" y="1490472"/>
            <a:ext cx="2651760" cy="384048"/>
          </a:xfrm>
          <a:prstGeom prst="rect">
            <a:avLst/>
          </a:prstGeom>
          <a:noFill/>
          <a:ln/>
        </p:spPr>
        <p:txBody>
          <a:bodyPr wrap="square" lIns="91440" tIns="45720" rIns="91440" bIns="45720" rtlCol="0" anchor="ctr"/>
          <a:lstStyle/>
          <a:p>
            <a:r>
              <a:rPr lang="en-US" sz="1200">
                <a:solidFill>
                  <a:srgbClr val="8892A4"/>
                </a:solidFill>
                <a:ea typeface="+mn-lt"/>
                <a:cs typeface="+mn-lt"/>
              </a:rPr>
              <a:t>Booking.com Testing &amp; Automation Project</a:t>
            </a:r>
            <a:endParaRPr lang="en-US"/>
          </a:p>
        </p:txBody>
      </p:sp>
      <p:sp>
        <p:nvSpPr>
          <p:cNvPr id="37" name="Shape 33"/>
          <p:cNvSpPr/>
          <p:nvPr/>
        </p:nvSpPr>
        <p:spPr>
          <a:xfrm>
            <a:off x="6126480" y="2194560"/>
            <a:ext cx="2834640" cy="868680"/>
          </a:xfrm>
          <a:prstGeom prst="roundRect">
            <a:avLst>
              <a:gd name="adj" fmla="val 8421"/>
            </a:avLst>
          </a:prstGeom>
          <a:solidFill>
            <a:srgbClr val="141B2D"/>
          </a:solidFill>
          <a:ln w="12700">
            <a:solidFill>
              <a:srgbClr val="1E2D4A"/>
            </a:solidFill>
            <a:prstDash val="solid"/>
          </a:ln>
        </p:spPr>
      </p:sp>
      <p:sp>
        <p:nvSpPr>
          <p:cNvPr id="38" name="Text 34"/>
          <p:cNvSpPr/>
          <p:nvPr/>
        </p:nvSpPr>
        <p:spPr>
          <a:xfrm>
            <a:off x="6263640" y="2267712"/>
            <a:ext cx="2651760" cy="274320"/>
          </a:xfrm>
          <a:prstGeom prst="rect">
            <a:avLst/>
          </a:prstGeom>
          <a:noFill/>
          <a:ln/>
        </p:spPr>
        <p:txBody>
          <a:bodyPr wrap="square" rtlCol="0" anchor="ctr"/>
          <a:lstStyle/>
          <a:p>
            <a:pPr marL="0" indent="0">
              <a:buNone/>
            </a:pPr>
            <a:r>
              <a:rPr lang="en-US" sz="1000" b="1" dirty="0">
                <a:solidFill>
                  <a:srgbClr val="4FC3F7"/>
                </a:solidFill>
                <a:latin typeface="Calibri" pitchFamily="34" charset="0"/>
                <a:ea typeface="Calibri" pitchFamily="34" charset="-122"/>
                <a:cs typeface="Calibri" pitchFamily="34" charset="-120"/>
              </a:rPr>
              <a:t>Tech Stack</a:t>
            </a:r>
            <a:endParaRPr lang="en-US" sz="1000" dirty="0"/>
          </a:p>
        </p:txBody>
      </p:sp>
      <p:sp>
        <p:nvSpPr>
          <p:cNvPr id="39" name="Text 35"/>
          <p:cNvSpPr/>
          <p:nvPr/>
        </p:nvSpPr>
        <p:spPr>
          <a:xfrm>
            <a:off x="6263640" y="2542032"/>
            <a:ext cx="2651760" cy="384048"/>
          </a:xfrm>
          <a:prstGeom prst="rect">
            <a:avLst/>
          </a:prstGeom>
          <a:noFill/>
          <a:ln/>
        </p:spPr>
        <p:txBody>
          <a:bodyPr wrap="square" lIns="91440" tIns="45720" rIns="91440" bIns="45720" rtlCol="0" anchor="ctr"/>
          <a:lstStyle/>
          <a:p>
            <a:r>
              <a:rPr lang="en-US" sz="1200" dirty="0">
                <a:solidFill>
                  <a:srgbClr val="8892A4"/>
                </a:solidFill>
                <a:latin typeface="Calibri"/>
                <a:ea typeface="Calibri"/>
                <a:cs typeface="Calibri"/>
              </a:rPr>
              <a:t>Selenium </a:t>
            </a:r>
            <a:r>
              <a:rPr lang="en-US" sz="1200" dirty="0" err="1">
                <a:solidFill>
                  <a:srgbClr val="8892A4"/>
                </a:solidFill>
                <a:latin typeface="Calibri"/>
                <a:ea typeface="Calibri"/>
                <a:cs typeface="Calibri"/>
              </a:rPr>
              <a:t>Webdriver</a:t>
            </a:r>
            <a:r>
              <a:rPr lang="en-US" sz="1200" dirty="0">
                <a:solidFill>
                  <a:srgbClr val="8892A4"/>
                </a:solidFill>
                <a:latin typeface="Calibri"/>
                <a:ea typeface="Calibri"/>
                <a:cs typeface="Calibri"/>
              </a:rPr>
              <a:t> , Java , Maven , Postman , </a:t>
            </a:r>
            <a:r>
              <a:rPr lang="en-US" sz="1200" dirty="0" err="1">
                <a:solidFill>
                  <a:srgbClr val="8892A4"/>
                </a:solidFill>
                <a:latin typeface="Calibri"/>
                <a:ea typeface="Calibri"/>
                <a:cs typeface="Calibri"/>
              </a:rPr>
              <a:t>Github</a:t>
            </a:r>
            <a:r>
              <a:rPr lang="en-US" sz="1200" dirty="0">
                <a:solidFill>
                  <a:srgbClr val="8892A4"/>
                </a:solidFill>
                <a:latin typeface="Calibri"/>
                <a:ea typeface="Calibri"/>
                <a:cs typeface="Calibri"/>
              </a:rPr>
              <a:t> , Manual Testing</a:t>
            </a:r>
          </a:p>
        </p:txBody>
      </p:sp>
      <p:sp>
        <p:nvSpPr>
          <p:cNvPr id="40" name="Shape 36"/>
          <p:cNvSpPr/>
          <p:nvPr/>
        </p:nvSpPr>
        <p:spPr>
          <a:xfrm>
            <a:off x="6126480" y="3246120"/>
            <a:ext cx="2834640" cy="868680"/>
          </a:xfrm>
          <a:prstGeom prst="roundRect">
            <a:avLst>
              <a:gd name="adj" fmla="val 8421"/>
            </a:avLst>
          </a:prstGeom>
          <a:solidFill>
            <a:srgbClr val="141B2D"/>
          </a:solidFill>
          <a:ln w="12700">
            <a:solidFill>
              <a:srgbClr val="1E2D4A"/>
            </a:solidFill>
            <a:prstDash val="solid"/>
          </a:ln>
        </p:spPr>
      </p:sp>
      <p:sp>
        <p:nvSpPr>
          <p:cNvPr id="41" name="Text 37"/>
          <p:cNvSpPr/>
          <p:nvPr/>
        </p:nvSpPr>
        <p:spPr>
          <a:xfrm>
            <a:off x="6263640" y="3319272"/>
            <a:ext cx="2651760" cy="274320"/>
          </a:xfrm>
          <a:prstGeom prst="rect">
            <a:avLst/>
          </a:prstGeom>
          <a:noFill/>
          <a:ln/>
        </p:spPr>
        <p:txBody>
          <a:bodyPr wrap="square" rtlCol="0" anchor="ctr"/>
          <a:lstStyle/>
          <a:p>
            <a:pPr marL="0" indent="0">
              <a:buNone/>
            </a:pPr>
            <a:r>
              <a:rPr lang="en-US" sz="1000" b="1" dirty="0">
                <a:solidFill>
                  <a:srgbClr val="4FC3F7"/>
                </a:solidFill>
                <a:latin typeface="Calibri" pitchFamily="34" charset="0"/>
                <a:ea typeface="Calibri" pitchFamily="34" charset="-122"/>
                <a:cs typeface="Calibri" pitchFamily="34" charset="-120"/>
              </a:rPr>
              <a:t>Supervisor</a:t>
            </a:r>
            <a:endParaRPr lang="en-US" sz="1000" dirty="0"/>
          </a:p>
        </p:txBody>
      </p:sp>
      <p:sp>
        <p:nvSpPr>
          <p:cNvPr id="42" name="Text 38"/>
          <p:cNvSpPr/>
          <p:nvPr/>
        </p:nvSpPr>
        <p:spPr>
          <a:xfrm>
            <a:off x="6263640" y="3593592"/>
            <a:ext cx="2651760" cy="384048"/>
          </a:xfrm>
          <a:prstGeom prst="rect">
            <a:avLst/>
          </a:prstGeom>
          <a:noFill/>
          <a:ln/>
        </p:spPr>
        <p:txBody>
          <a:bodyPr wrap="square" lIns="91440" tIns="45720" rIns="91440" bIns="45720" rtlCol="0" anchor="ctr"/>
          <a:lstStyle/>
          <a:p>
            <a:r>
              <a:rPr lang="en-US" sz="1200">
                <a:solidFill>
                  <a:srgbClr val="8892A4"/>
                </a:solidFill>
                <a:latin typeface="Calibri"/>
                <a:ea typeface="Calibri"/>
                <a:cs typeface="Calibri"/>
              </a:rPr>
              <a:t>Basil Khalid</a:t>
            </a:r>
            <a:endParaRPr lang="en-US" sz="1200" dirty="0">
              <a:solidFill>
                <a:srgbClr val="8892A4"/>
              </a:solidFill>
              <a:latin typeface="Calibri"/>
              <a:ea typeface="Calibri"/>
              <a:cs typeface="Calibri"/>
            </a:endParaRPr>
          </a:p>
        </p:txBody>
      </p:sp>
      <p:sp>
        <p:nvSpPr>
          <p:cNvPr id="43" name="Shape 5">
            <a:extLst>
              <a:ext uri="{FF2B5EF4-FFF2-40B4-BE49-F238E27FC236}">
                <a16:creationId xmlns:a16="http://schemas.microsoft.com/office/drawing/2014/main" id="{3A0BB604-D92E-3E62-36CF-0C9F934D4DDF}"/>
              </a:ext>
            </a:extLst>
          </p:cNvPr>
          <p:cNvSpPr/>
          <p:nvPr/>
        </p:nvSpPr>
        <p:spPr>
          <a:xfrm>
            <a:off x="3202577" y="3786051"/>
            <a:ext cx="2743200" cy="914400"/>
          </a:xfrm>
          <a:prstGeom prst="roundRect">
            <a:avLst>
              <a:gd name="adj" fmla="val 8000"/>
            </a:avLst>
          </a:prstGeom>
          <a:solidFill>
            <a:srgbClr val="1A2340"/>
          </a:solidFill>
          <a:ln w="12700">
            <a:solidFill>
              <a:srgbClr val="FFC000"/>
            </a:solidFill>
            <a:prstDash val="solid"/>
          </a:ln>
        </p:spPr>
      </p:sp>
      <p:sp>
        <p:nvSpPr>
          <p:cNvPr id="45" name="Shape 21">
            <a:extLst>
              <a:ext uri="{FF2B5EF4-FFF2-40B4-BE49-F238E27FC236}">
                <a16:creationId xmlns:a16="http://schemas.microsoft.com/office/drawing/2014/main" id="{3B91435A-F03D-D51D-4D31-23B486CCAFF2}"/>
              </a:ext>
            </a:extLst>
          </p:cNvPr>
          <p:cNvSpPr/>
          <p:nvPr/>
        </p:nvSpPr>
        <p:spPr>
          <a:xfrm>
            <a:off x="3310128" y="3979817"/>
            <a:ext cx="457200" cy="457200"/>
          </a:xfrm>
          <a:prstGeom prst="ellipse">
            <a:avLst/>
          </a:prstGeom>
          <a:ln/>
        </p:spPr>
        <p:style>
          <a:lnRef idx="1">
            <a:schemeClr val="accent2"/>
          </a:lnRef>
          <a:fillRef idx="3">
            <a:schemeClr val="accent2"/>
          </a:fillRef>
          <a:effectRef idx="2">
            <a:schemeClr val="accent2"/>
          </a:effectRef>
          <a:fontRef idx="minor">
            <a:schemeClr val="lt1"/>
          </a:fontRef>
        </p:style>
      </p:sp>
      <p:sp>
        <p:nvSpPr>
          <p:cNvPr id="50" name="TextBox 49">
            <a:extLst>
              <a:ext uri="{FF2B5EF4-FFF2-40B4-BE49-F238E27FC236}">
                <a16:creationId xmlns:a16="http://schemas.microsoft.com/office/drawing/2014/main" id="{98913B29-2907-B4B7-E6D8-0800EB51CC61}"/>
              </a:ext>
            </a:extLst>
          </p:cNvPr>
          <p:cNvSpPr txBox="1"/>
          <p:nvPr/>
        </p:nvSpPr>
        <p:spPr>
          <a:xfrm>
            <a:off x="3856709" y="3967771"/>
            <a:ext cx="1736272"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dirty="0" err="1">
                <a:solidFill>
                  <a:schemeClr val="bg1"/>
                </a:solidFill>
                <a:ea typeface="Calibri"/>
                <a:cs typeface="Calibri"/>
              </a:rPr>
              <a:t>Wesal</a:t>
            </a:r>
            <a:r>
              <a:rPr lang="en-US" sz="1300" dirty="0">
                <a:solidFill>
                  <a:schemeClr val="bg1"/>
                </a:solidFill>
                <a:ea typeface="Calibri"/>
                <a:cs typeface="Calibri"/>
              </a:rPr>
              <a:t> Emad</a:t>
            </a:r>
            <a:endParaRPr lang="en-US" sz="1300" dirty="0">
              <a:solidFill>
                <a:schemeClr val="bg1"/>
              </a:solidFill>
            </a:endParaRPr>
          </a:p>
        </p:txBody>
      </p:sp>
      <p:sp>
        <p:nvSpPr>
          <p:cNvPr id="52" name="TextBox 51">
            <a:extLst>
              <a:ext uri="{FF2B5EF4-FFF2-40B4-BE49-F238E27FC236}">
                <a16:creationId xmlns:a16="http://schemas.microsoft.com/office/drawing/2014/main" id="{8B449E0C-1887-8D50-47E7-A4AE47C1EBB5}"/>
              </a:ext>
            </a:extLst>
          </p:cNvPr>
          <p:cNvSpPr txBox="1"/>
          <p:nvPr/>
        </p:nvSpPr>
        <p:spPr>
          <a:xfrm>
            <a:off x="3376600" y="4054471"/>
            <a:ext cx="32113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400">
                <a:solidFill>
                  <a:schemeClr val="bg1"/>
                </a:solidFill>
                <a:ea typeface="Calibri"/>
                <a:cs typeface="Calibri"/>
              </a:rPr>
              <a:t>W</a:t>
            </a:r>
            <a:endParaRPr lang="en-US" sz="1400">
              <a:solidFill>
                <a:schemeClr val="bg1"/>
              </a:solidFill>
            </a:endParaRPr>
          </a:p>
        </p:txBody>
      </p:sp>
      <p:sp>
        <p:nvSpPr>
          <p:cNvPr id="54" name="TextBox 53">
            <a:extLst>
              <a:ext uri="{FF2B5EF4-FFF2-40B4-BE49-F238E27FC236}">
                <a16:creationId xmlns:a16="http://schemas.microsoft.com/office/drawing/2014/main" id="{D10999B6-F85D-5508-DB6C-649FD98A50D2}"/>
              </a:ext>
            </a:extLst>
          </p:cNvPr>
          <p:cNvSpPr txBox="1"/>
          <p:nvPr/>
        </p:nvSpPr>
        <p:spPr>
          <a:xfrm>
            <a:off x="3855645" y="4318793"/>
            <a:ext cx="1017816"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accent2"/>
                </a:solidFill>
                <a:ea typeface="Calibri"/>
                <a:cs typeface="Calibri"/>
              </a:rPr>
              <a:t>QA Engineer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9728" y="73152"/>
            <a:ext cx="658368" cy="658368"/>
          </a:xfrm>
          <a:prstGeom prst="ellipse">
            <a:avLst/>
          </a:prstGeom>
        </p:spPr>
      </p:pic>
      <p:sp>
        <p:nvSpPr>
          <p:cNvPr id="4" name="Shape 0"/>
          <p:cNvSpPr/>
          <p:nvPr/>
        </p:nvSpPr>
        <p:spPr>
          <a:xfrm>
            <a:off x="5303520" y="818388"/>
            <a:ext cx="3840480" cy="4325112"/>
          </a:xfrm>
          <a:prstGeom prst="rect">
            <a:avLst/>
          </a:prstGeom>
          <a:solidFill>
            <a:srgbClr val="141B2D"/>
          </a:solidFill>
          <a:ln w="12700">
            <a:solidFill>
              <a:srgbClr val="1E2D4A"/>
            </a:solidFill>
            <a:prstDash val="solid"/>
          </a:ln>
        </p:spPr>
      </p:sp>
      <p:sp>
        <p:nvSpPr>
          <p:cNvPr id="5" name="Shape 1"/>
          <p:cNvSpPr/>
          <p:nvPr/>
        </p:nvSpPr>
        <p:spPr>
          <a:xfrm>
            <a:off x="5943600" y="640080"/>
            <a:ext cx="2926080" cy="2743200"/>
          </a:xfrm>
          <a:prstGeom prst="ellipse">
            <a:avLst/>
          </a:prstGeom>
          <a:solidFill>
            <a:srgbClr val="FF5252">
              <a:alpha val="10000"/>
            </a:srgbClr>
          </a:solidFill>
          <a:ln w="12700">
            <a:solidFill>
              <a:srgbClr val="FF5252"/>
            </a:solidFill>
            <a:prstDash val="solid"/>
          </a:ln>
        </p:spPr>
      </p:sp>
      <p:sp>
        <p:nvSpPr>
          <p:cNvPr id="6" name="Shape 2"/>
          <p:cNvSpPr/>
          <p:nvPr/>
        </p:nvSpPr>
        <p:spPr>
          <a:xfrm>
            <a:off x="1006493" y="386007"/>
            <a:ext cx="1645920" cy="347472"/>
          </a:xfrm>
          <a:prstGeom prst="roundRect">
            <a:avLst>
              <a:gd name="adj" fmla="val 13158"/>
            </a:avLst>
          </a:prstGeom>
          <a:solidFill>
            <a:srgbClr val="FF5252">
              <a:alpha val="20000"/>
            </a:srgbClr>
          </a:solidFill>
          <a:ln w="12700">
            <a:solidFill>
              <a:srgbClr val="FF5252"/>
            </a:solidFill>
            <a:prstDash val="solid"/>
          </a:ln>
        </p:spPr>
      </p:sp>
      <p:sp>
        <p:nvSpPr>
          <p:cNvPr id="7" name="Text 3"/>
          <p:cNvSpPr/>
          <p:nvPr/>
        </p:nvSpPr>
        <p:spPr>
          <a:xfrm>
            <a:off x="953589" y="403860"/>
            <a:ext cx="1645920" cy="347472"/>
          </a:xfrm>
          <a:prstGeom prst="rect">
            <a:avLst/>
          </a:prstGeom>
          <a:noFill/>
          <a:ln/>
        </p:spPr>
        <p:txBody>
          <a:bodyPr wrap="square" rtlCol="0" anchor="ctr"/>
          <a:lstStyle/>
          <a:p>
            <a:pPr marL="0" indent="0" algn="ctr">
              <a:buNone/>
            </a:pPr>
            <a:r>
              <a:rPr lang="en-US" sz="1100" b="1" kern="0" spc="200" dirty="0">
                <a:solidFill>
                  <a:srgbClr val="FF5252"/>
                </a:solidFill>
                <a:latin typeface="Calibri" pitchFamily="34" charset="0"/>
                <a:ea typeface="Calibri" pitchFamily="34" charset="-122"/>
                <a:cs typeface="Calibri" pitchFamily="34" charset="-120"/>
              </a:rPr>
              <a:t>PROBLEM</a:t>
            </a:r>
            <a:endParaRPr lang="en-US" sz="1100" dirty="0"/>
          </a:p>
        </p:txBody>
      </p:sp>
      <p:sp>
        <p:nvSpPr>
          <p:cNvPr id="8" name="Text 4"/>
          <p:cNvSpPr/>
          <p:nvPr/>
        </p:nvSpPr>
        <p:spPr>
          <a:xfrm>
            <a:off x="365760" y="822960"/>
            <a:ext cx="4572000" cy="594360"/>
          </a:xfrm>
          <a:prstGeom prst="rect">
            <a:avLst/>
          </a:prstGeom>
          <a:noFill/>
          <a:ln/>
        </p:spPr>
        <p:txBody>
          <a:bodyPr wrap="square" rtlCol="0" anchor="ctr"/>
          <a:lstStyle/>
          <a:p>
            <a:pPr marL="0" indent="0">
              <a:buNone/>
            </a:pPr>
            <a:r>
              <a:rPr lang="en-US" sz="3200" b="1" dirty="0">
                <a:solidFill>
                  <a:srgbClr val="F1F5FB"/>
                </a:solidFill>
                <a:latin typeface="Calibri" pitchFamily="34" charset="0"/>
                <a:ea typeface="Calibri" pitchFamily="34" charset="-122"/>
                <a:cs typeface="Calibri" pitchFamily="34" charset="-120"/>
              </a:rPr>
              <a:t>Problem</a:t>
            </a:r>
            <a:endParaRPr lang="en-US" sz="3200" dirty="0"/>
          </a:p>
        </p:txBody>
      </p:sp>
      <p:sp>
        <p:nvSpPr>
          <p:cNvPr id="9" name="Text 5"/>
          <p:cNvSpPr/>
          <p:nvPr/>
        </p:nvSpPr>
        <p:spPr>
          <a:xfrm>
            <a:off x="365760" y="1371600"/>
            <a:ext cx="4572000" cy="594360"/>
          </a:xfrm>
          <a:prstGeom prst="rect">
            <a:avLst/>
          </a:prstGeom>
          <a:noFill/>
          <a:ln/>
        </p:spPr>
        <p:txBody>
          <a:bodyPr wrap="square" rtlCol="0" anchor="ctr"/>
          <a:lstStyle/>
          <a:p>
            <a:pPr marL="0" indent="0">
              <a:buNone/>
            </a:pPr>
            <a:r>
              <a:rPr lang="en-US" sz="3200" b="1" dirty="0">
                <a:solidFill>
                  <a:srgbClr val="FF5252"/>
                </a:solidFill>
                <a:latin typeface="Calibri" pitchFamily="34" charset="0"/>
                <a:ea typeface="Calibri" pitchFamily="34" charset="-122"/>
                <a:cs typeface="Calibri" pitchFamily="34" charset="-120"/>
              </a:rPr>
              <a:t>Statement</a:t>
            </a:r>
            <a:endParaRPr lang="en-US" sz="3200" dirty="0"/>
          </a:p>
        </p:txBody>
      </p:sp>
      <p:sp>
        <p:nvSpPr>
          <p:cNvPr id="10" name="Shape 6"/>
          <p:cNvSpPr/>
          <p:nvPr/>
        </p:nvSpPr>
        <p:spPr>
          <a:xfrm>
            <a:off x="202474" y="2076994"/>
            <a:ext cx="3200400" cy="0"/>
          </a:xfrm>
          <a:prstGeom prst="line">
            <a:avLst/>
          </a:prstGeom>
          <a:noFill/>
          <a:ln w="6350">
            <a:solidFill>
              <a:srgbClr val="1E2D4A"/>
            </a:solidFill>
            <a:prstDash val="solid"/>
          </a:ln>
        </p:spPr>
      </p:sp>
      <p:sp>
        <p:nvSpPr>
          <p:cNvPr id="11" name="Text 7"/>
          <p:cNvSpPr/>
          <p:nvPr/>
        </p:nvSpPr>
        <p:spPr>
          <a:xfrm>
            <a:off x="273231" y="1735184"/>
            <a:ext cx="4663440" cy="3295105"/>
          </a:xfrm>
          <a:prstGeom prst="rect">
            <a:avLst/>
          </a:prstGeom>
          <a:noFill/>
          <a:ln/>
        </p:spPr>
        <p:txBody>
          <a:bodyPr wrap="square" lIns="91440" tIns="45720" rIns="91440" bIns="45720" rtlCol="0" anchor="ctr"/>
          <a:lstStyle/>
          <a:p>
            <a:endParaRPr lang="en-US" sz="1300" b="1" dirty="0">
              <a:solidFill>
                <a:srgbClr val="8892A4"/>
              </a:solidFill>
              <a:ea typeface="Calibri"/>
              <a:cs typeface="Calibri"/>
            </a:endParaRPr>
          </a:p>
          <a:p>
            <a:r>
              <a:rPr lang="en-US" sz="1100">
                <a:solidFill>
                  <a:srgbClr val="8892A4"/>
                </a:solidFill>
                <a:ea typeface="+mn-lt"/>
                <a:cs typeface="+mn-lt"/>
              </a:rPr>
              <a:t>Booking.com is a widely used platform for hotel and travel reservations, where users need a smooth and reliable experience when searching, logging in, managing their accounts, and completing bookings. However, without proper testing, the system may contain functional defects, usability issues, security problems, or performance failures.</a:t>
            </a:r>
            <a:endParaRPr lang="en-US" sz="1100">
              <a:ea typeface="Calibri"/>
              <a:cs typeface="Calibri"/>
            </a:endParaRPr>
          </a:p>
          <a:p>
            <a:r>
              <a:rPr lang="en-US" sz="1100">
                <a:solidFill>
                  <a:srgbClr val="8892A4"/>
                </a:solidFill>
                <a:ea typeface="+mn-lt"/>
                <a:cs typeface="+mn-lt"/>
              </a:rPr>
              <a:t>These issues can negatively affect user experience, cause booking failures, lead to user dissatisfaction, and reduce trust in the platform. Therefore, comprehensive testing is required to ensure the application's quality, reliability, and stability across different scenarios and browsers.</a:t>
            </a:r>
            <a:endParaRPr lang="en-US" sz="1100">
              <a:ea typeface="Calibri"/>
              <a:cs typeface="Calibri"/>
            </a:endParaRPr>
          </a:p>
          <a:p>
            <a:r>
              <a:rPr lang="en-US" sz="1100" b="1">
                <a:solidFill>
                  <a:srgbClr val="8892A4"/>
                </a:solidFill>
                <a:ea typeface="+mn-lt"/>
                <a:cs typeface="+mn-lt"/>
              </a:rPr>
              <a:t>Impact:</a:t>
            </a:r>
            <a:endParaRPr lang="en-US" sz="1100">
              <a:ea typeface="Calibri"/>
              <a:cs typeface="Calibri"/>
            </a:endParaRPr>
          </a:p>
          <a:p>
            <a:pPr marL="285750" indent="-285750">
              <a:buFont typeface="Arial"/>
              <a:buChar char="•"/>
            </a:pPr>
            <a:r>
              <a:rPr lang="en-US" sz="1100">
                <a:solidFill>
                  <a:srgbClr val="8892A4"/>
                </a:solidFill>
                <a:ea typeface="+mn-lt"/>
                <a:cs typeface="+mn-lt"/>
              </a:rPr>
              <a:t>Users may face difficulties during login or account recovery. </a:t>
            </a:r>
            <a:endParaRPr lang="en-US" sz="1100">
              <a:ea typeface="Calibri"/>
              <a:cs typeface="Calibri"/>
            </a:endParaRPr>
          </a:p>
          <a:p>
            <a:pPr marL="285750" indent="-285750">
              <a:buFont typeface="Arial"/>
              <a:buChar char="•"/>
            </a:pPr>
            <a:r>
              <a:rPr lang="en-US" sz="1100">
                <a:solidFill>
                  <a:srgbClr val="8892A4"/>
                </a:solidFill>
                <a:ea typeface="+mn-lt"/>
                <a:cs typeface="+mn-lt"/>
              </a:rPr>
              <a:t>Booking processes may fail or contain errors. </a:t>
            </a:r>
            <a:endParaRPr lang="en-US" sz="1100">
              <a:ea typeface="Calibri"/>
              <a:cs typeface="Calibri"/>
            </a:endParaRPr>
          </a:p>
          <a:p>
            <a:pPr marL="285750" indent="-285750">
              <a:buFont typeface="Arial"/>
              <a:buChar char="•"/>
            </a:pPr>
            <a:r>
              <a:rPr lang="en-US" sz="1100">
                <a:solidFill>
                  <a:srgbClr val="8892A4"/>
                </a:solidFill>
                <a:ea typeface="+mn-lt"/>
                <a:cs typeface="+mn-lt"/>
              </a:rPr>
              <a:t>Poor user experience can lead to customer loss. </a:t>
            </a:r>
            <a:endParaRPr lang="en-US" sz="1100">
              <a:ea typeface="Calibri"/>
              <a:cs typeface="Calibri"/>
            </a:endParaRPr>
          </a:p>
          <a:p>
            <a:pPr marL="285750" indent="-285750">
              <a:buFont typeface="Arial"/>
              <a:buChar char="•"/>
            </a:pPr>
            <a:r>
              <a:rPr lang="en-US" sz="1100">
                <a:solidFill>
                  <a:srgbClr val="8892A4"/>
                </a:solidFill>
                <a:ea typeface="+mn-lt"/>
                <a:cs typeface="+mn-lt"/>
              </a:rPr>
              <a:t>Undetected bugs may affect system reliability and security.</a:t>
            </a:r>
            <a:endParaRPr lang="en-US" sz="1100">
              <a:ea typeface="Calibri"/>
              <a:cs typeface="Calibri"/>
            </a:endParaRPr>
          </a:p>
          <a:p>
            <a:pPr marL="0" indent="0" algn="l">
              <a:buNone/>
            </a:pPr>
            <a:endParaRPr lang="en-US" sz="1000" dirty="0">
              <a:solidFill>
                <a:srgbClr val="8892A4"/>
              </a:solidFill>
              <a:latin typeface="Calibri"/>
              <a:ea typeface="Calibri"/>
              <a:cs typeface="Calibri"/>
            </a:endParaRPr>
          </a:p>
        </p:txBody>
      </p:sp>
      <p:sp>
        <p:nvSpPr>
          <p:cNvPr id="12" name="Shape 8"/>
          <p:cNvSpPr/>
          <p:nvPr/>
        </p:nvSpPr>
        <p:spPr>
          <a:xfrm>
            <a:off x="5577840" y="754381"/>
            <a:ext cx="3200400" cy="1113608"/>
          </a:xfrm>
          <a:prstGeom prst="roundRect">
            <a:avLst>
              <a:gd name="adj" fmla="val 6667"/>
            </a:avLst>
          </a:prstGeom>
          <a:solidFill>
            <a:srgbClr val="0F1526"/>
          </a:solidFill>
          <a:ln w="12700">
            <a:solidFill>
              <a:srgbClr val="FF5252"/>
            </a:solidFill>
            <a:prstDash val="solid"/>
          </a:ln>
        </p:spPr>
      </p:sp>
      <p:sp>
        <p:nvSpPr>
          <p:cNvPr id="13" name="Text 9"/>
          <p:cNvSpPr/>
          <p:nvPr/>
        </p:nvSpPr>
        <p:spPr>
          <a:xfrm>
            <a:off x="5669280" y="867591"/>
            <a:ext cx="548640" cy="502920"/>
          </a:xfrm>
          <a:prstGeom prst="rect">
            <a:avLst/>
          </a:prstGeom>
          <a:noFill/>
          <a:ln/>
        </p:spPr>
        <p:txBody>
          <a:bodyPr wrap="square" rtlCol="0" anchor="ctr"/>
          <a:lstStyle/>
          <a:p>
            <a:pPr marL="0" indent="0" algn="ctr">
              <a:buNone/>
            </a:pPr>
            <a:r>
              <a:rPr lang="en-US" sz="2200" b="1" dirty="0">
                <a:solidFill>
                  <a:srgbClr val="FF5252"/>
                </a:solidFill>
                <a:latin typeface="Calibri" pitchFamily="34" charset="0"/>
                <a:ea typeface="Calibri" pitchFamily="34" charset="-122"/>
                <a:cs typeface="Calibri" pitchFamily="34" charset="-120"/>
              </a:rPr>
              <a:t>01</a:t>
            </a:r>
            <a:endParaRPr lang="en-US" sz="2200" dirty="0"/>
          </a:p>
        </p:txBody>
      </p:sp>
      <p:sp>
        <p:nvSpPr>
          <p:cNvPr id="14" name="Text 10"/>
          <p:cNvSpPr/>
          <p:nvPr/>
        </p:nvSpPr>
        <p:spPr>
          <a:xfrm>
            <a:off x="6220097" y="940526"/>
            <a:ext cx="2377440" cy="365760"/>
          </a:xfrm>
          <a:prstGeom prst="rect">
            <a:avLst/>
          </a:prstGeom>
          <a:noFill/>
          <a:ln/>
        </p:spPr>
        <p:txBody>
          <a:bodyPr wrap="square" lIns="91440" tIns="45720" rIns="91440" bIns="45720" rtlCol="0" anchor="ctr"/>
          <a:lstStyle/>
          <a:p>
            <a:pPr marL="0" indent="0">
              <a:buNone/>
            </a:pPr>
            <a:r>
              <a:rPr lang="en-US" sz="1500" b="1" dirty="0">
                <a:solidFill>
                  <a:srgbClr val="F1F5FB"/>
                </a:solidFill>
                <a:ea typeface="Calibri"/>
                <a:cs typeface="Calibri"/>
              </a:rPr>
              <a:t>Effici</a:t>
            </a:r>
            <a:r>
              <a:rPr lang="en-US" sz="1500" b="1">
                <a:solidFill>
                  <a:srgbClr val="F1F5FB"/>
                </a:solidFill>
                <a:ea typeface="Calibri"/>
                <a:cs typeface="Calibri"/>
              </a:rPr>
              <a:t>ency</a:t>
            </a:r>
            <a:endParaRPr lang="en-US" sz="1500" b="1" dirty="0">
              <a:solidFill>
                <a:srgbClr val="F1F5FB"/>
              </a:solidFill>
              <a:ea typeface="Calibri"/>
              <a:cs typeface="Calibri"/>
            </a:endParaRPr>
          </a:p>
        </p:txBody>
      </p:sp>
      <p:sp>
        <p:nvSpPr>
          <p:cNvPr id="15" name="Text 11"/>
          <p:cNvSpPr/>
          <p:nvPr/>
        </p:nvSpPr>
        <p:spPr>
          <a:xfrm>
            <a:off x="6067698" y="1306504"/>
            <a:ext cx="2377440" cy="411480"/>
          </a:xfrm>
          <a:prstGeom prst="rect">
            <a:avLst/>
          </a:prstGeom>
          <a:noFill/>
          <a:ln/>
        </p:spPr>
        <p:txBody>
          <a:bodyPr wrap="square" lIns="91440" tIns="45720" rIns="91440" bIns="45720" rtlCol="0" anchor="ctr"/>
          <a:lstStyle/>
          <a:p>
            <a:r>
              <a:rPr lang="en-US" sz="1000">
                <a:solidFill>
                  <a:schemeClr val="bg1">
                    <a:lumMod val="65000"/>
                  </a:schemeClr>
                </a:solidFill>
              </a:rPr>
              <a:t>Reduced testing effort and improved test coverage.</a:t>
            </a:r>
            <a:endParaRPr lang="en-US" sz="1000">
              <a:solidFill>
                <a:schemeClr val="bg1">
                  <a:lumMod val="65000"/>
                </a:schemeClr>
              </a:solidFill>
              <a:ea typeface="Calibri"/>
              <a:cs typeface="Calibri"/>
            </a:endParaRPr>
          </a:p>
        </p:txBody>
      </p:sp>
      <p:sp>
        <p:nvSpPr>
          <p:cNvPr id="16" name="Shape 12"/>
          <p:cNvSpPr/>
          <p:nvPr/>
        </p:nvSpPr>
        <p:spPr>
          <a:xfrm>
            <a:off x="5577840" y="2011680"/>
            <a:ext cx="3200400" cy="1097280"/>
          </a:xfrm>
          <a:prstGeom prst="roundRect">
            <a:avLst>
              <a:gd name="adj" fmla="val 6667"/>
            </a:avLst>
          </a:prstGeom>
          <a:solidFill>
            <a:srgbClr val="0F1526"/>
          </a:solidFill>
          <a:ln w="12700">
            <a:solidFill>
              <a:srgbClr val="FFB300"/>
            </a:solidFill>
            <a:prstDash val="solid"/>
          </a:ln>
        </p:spPr>
      </p:sp>
      <p:sp>
        <p:nvSpPr>
          <p:cNvPr id="17" name="Text 13"/>
          <p:cNvSpPr/>
          <p:nvPr/>
        </p:nvSpPr>
        <p:spPr>
          <a:xfrm>
            <a:off x="5669280" y="2103120"/>
            <a:ext cx="548640" cy="502920"/>
          </a:xfrm>
          <a:prstGeom prst="rect">
            <a:avLst/>
          </a:prstGeom>
          <a:noFill/>
          <a:ln/>
        </p:spPr>
        <p:txBody>
          <a:bodyPr wrap="square" rtlCol="0" anchor="ctr"/>
          <a:lstStyle/>
          <a:p>
            <a:pPr marL="0" indent="0" algn="ctr">
              <a:buNone/>
            </a:pPr>
            <a:r>
              <a:rPr lang="en-US" sz="2200" b="1" dirty="0">
                <a:solidFill>
                  <a:srgbClr val="FFB300"/>
                </a:solidFill>
                <a:latin typeface="Calibri" pitchFamily="34" charset="0"/>
                <a:ea typeface="Calibri" pitchFamily="34" charset="-122"/>
                <a:cs typeface="Calibri" pitchFamily="34" charset="-120"/>
              </a:rPr>
              <a:t>02</a:t>
            </a:r>
            <a:endParaRPr lang="en-US" sz="2200" dirty="0"/>
          </a:p>
        </p:txBody>
      </p:sp>
      <p:sp>
        <p:nvSpPr>
          <p:cNvPr id="18" name="Text 14"/>
          <p:cNvSpPr/>
          <p:nvPr/>
        </p:nvSpPr>
        <p:spPr>
          <a:xfrm>
            <a:off x="6263640" y="2148840"/>
            <a:ext cx="2377440" cy="365760"/>
          </a:xfrm>
          <a:prstGeom prst="rect">
            <a:avLst/>
          </a:prstGeom>
          <a:noFill/>
          <a:ln/>
        </p:spPr>
        <p:txBody>
          <a:bodyPr wrap="square" lIns="91440" tIns="45720" rIns="91440" bIns="45720" rtlCol="0" anchor="ctr"/>
          <a:lstStyle/>
          <a:p>
            <a:pPr marL="0" indent="0">
              <a:buNone/>
            </a:pPr>
            <a:r>
              <a:rPr lang="en-US" sz="1500">
                <a:solidFill>
                  <a:srgbClr val="F1F5FB"/>
                </a:solidFill>
                <a:ea typeface="+mn-lt"/>
                <a:cs typeface="+mn-lt"/>
              </a:rPr>
              <a:t>Quality</a:t>
            </a:r>
            <a:endParaRPr lang="en-US"/>
          </a:p>
        </p:txBody>
      </p:sp>
      <p:sp>
        <p:nvSpPr>
          <p:cNvPr id="19" name="Text 15"/>
          <p:cNvSpPr/>
          <p:nvPr/>
        </p:nvSpPr>
        <p:spPr>
          <a:xfrm>
            <a:off x="6263640" y="2542032"/>
            <a:ext cx="2377440" cy="411480"/>
          </a:xfrm>
          <a:prstGeom prst="rect">
            <a:avLst/>
          </a:prstGeom>
          <a:noFill/>
          <a:ln/>
        </p:spPr>
        <p:txBody>
          <a:bodyPr wrap="square" lIns="91440" tIns="45720" rIns="91440" bIns="45720" rtlCol="0" anchor="ctr"/>
          <a:lstStyle/>
          <a:p>
            <a:r>
              <a:rPr lang="en-US" sz="1000">
                <a:solidFill>
                  <a:srgbClr val="8892A4"/>
                </a:solidFill>
                <a:ea typeface="+mn-lt"/>
                <a:cs typeface="+mn-lt"/>
              </a:rPr>
              <a:t>Improved application reliability and user experience.</a:t>
            </a:r>
            <a:endParaRPr lang="en-US"/>
          </a:p>
        </p:txBody>
      </p:sp>
      <p:sp>
        <p:nvSpPr>
          <p:cNvPr id="20" name="Shape 16"/>
          <p:cNvSpPr/>
          <p:nvPr/>
        </p:nvSpPr>
        <p:spPr>
          <a:xfrm>
            <a:off x="5577840" y="3383280"/>
            <a:ext cx="3200400" cy="1097280"/>
          </a:xfrm>
          <a:prstGeom prst="roundRect">
            <a:avLst>
              <a:gd name="adj" fmla="val 6667"/>
            </a:avLst>
          </a:prstGeom>
          <a:solidFill>
            <a:srgbClr val="0F1526"/>
          </a:solidFill>
          <a:ln w="12700">
            <a:solidFill>
              <a:srgbClr val="6C63FF"/>
            </a:solidFill>
            <a:prstDash val="solid"/>
          </a:ln>
        </p:spPr>
      </p:sp>
      <p:sp>
        <p:nvSpPr>
          <p:cNvPr id="21" name="Text 17"/>
          <p:cNvSpPr/>
          <p:nvPr/>
        </p:nvSpPr>
        <p:spPr>
          <a:xfrm>
            <a:off x="5669280" y="3474720"/>
            <a:ext cx="548640" cy="502920"/>
          </a:xfrm>
          <a:prstGeom prst="rect">
            <a:avLst/>
          </a:prstGeom>
          <a:noFill/>
          <a:ln/>
        </p:spPr>
        <p:txBody>
          <a:bodyPr wrap="square" rtlCol="0" anchor="ctr"/>
          <a:lstStyle/>
          <a:p>
            <a:pPr marL="0" indent="0" algn="ctr">
              <a:buNone/>
            </a:pPr>
            <a:r>
              <a:rPr lang="en-US" sz="2200" b="1" dirty="0">
                <a:solidFill>
                  <a:srgbClr val="6C63FF"/>
                </a:solidFill>
                <a:latin typeface="Calibri" pitchFamily="34" charset="0"/>
                <a:ea typeface="Calibri" pitchFamily="34" charset="-122"/>
                <a:cs typeface="Calibri" pitchFamily="34" charset="-120"/>
              </a:rPr>
              <a:t>03</a:t>
            </a:r>
            <a:endParaRPr lang="en-US" sz="2200" dirty="0"/>
          </a:p>
        </p:txBody>
      </p:sp>
      <p:sp>
        <p:nvSpPr>
          <p:cNvPr id="22" name="Text 18"/>
          <p:cNvSpPr/>
          <p:nvPr/>
        </p:nvSpPr>
        <p:spPr>
          <a:xfrm>
            <a:off x="6263640" y="3520440"/>
            <a:ext cx="2377440" cy="365760"/>
          </a:xfrm>
          <a:prstGeom prst="rect">
            <a:avLst/>
          </a:prstGeom>
          <a:noFill/>
          <a:ln/>
        </p:spPr>
        <p:txBody>
          <a:bodyPr wrap="square" lIns="91440" tIns="45720" rIns="91440" bIns="45720" rtlCol="0" anchor="ctr"/>
          <a:lstStyle/>
          <a:p>
            <a:pPr marL="0" indent="0">
              <a:buNone/>
            </a:pPr>
            <a:r>
              <a:rPr lang="en-US" sz="1500" b="1">
                <a:solidFill>
                  <a:srgbClr val="F1F5FB"/>
                </a:solidFill>
                <a:ea typeface="Calibri"/>
                <a:cs typeface="Calibri"/>
              </a:rPr>
              <a:t>Time</a:t>
            </a:r>
            <a:endParaRPr lang="en-US" sz="1500" b="1" dirty="0">
              <a:solidFill>
                <a:srgbClr val="F1F5FB"/>
              </a:solidFill>
              <a:ea typeface="Calibri"/>
              <a:cs typeface="Calibri"/>
            </a:endParaRPr>
          </a:p>
        </p:txBody>
      </p:sp>
      <p:sp>
        <p:nvSpPr>
          <p:cNvPr id="23" name="Text 19"/>
          <p:cNvSpPr/>
          <p:nvPr/>
        </p:nvSpPr>
        <p:spPr>
          <a:xfrm>
            <a:off x="6263640" y="3913632"/>
            <a:ext cx="2377440" cy="411480"/>
          </a:xfrm>
          <a:prstGeom prst="rect">
            <a:avLst/>
          </a:prstGeom>
          <a:noFill/>
          <a:ln/>
        </p:spPr>
        <p:txBody>
          <a:bodyPr wrap="square" lIns="91440" tIns="45720" rIns="91440" bIns="45720" rtlCol="0" anchor="ctr"/>
          <a:lstStyle/>
          <a:p>
            <a:r>
              <a:rPr lang="en-US" sz="1000">
                <a:solidFill>
                  <a:srgbClr val="8892A4"/>
                </a:solidFill>
                <a:ea typeface="+mn-lt"/>
                <a:cs typeface="+mn-lt"/>
              </a:rPr>
              <a:t>Reduced testing time and faster bug detection</a:t>
            </a:r>
          </a:p>
        </p:txBody>
      </p:sp>
      <p:pic>
        <p:nvPicPr>
          <p:cNvPr id="3" name="Image 1" descr="preencoded.png"/>
          <p:cNvPicPr>
            <a:picLocks noChangeAspect="1"/>
          </p:cNvPicPr>
          <p:nvPr/>
        </p:nvPicPr>
        <p:blipFill>
          <a:blip r:embed="rId4"/>
          <a:stretch>
            <a:fillRect/>
          </a:stretch>
        </p:blipFill>
        <p:spPr>
          <a:xfrm>
            <a:off x="8446661" y="67709"/>
            <a:ext cx="658368" cy="56692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A"/>
        </a:solidFill>
        <a:effectLst/>
      </p:bgPr>
    </p:bg>
    <p:spTree>
      <p:nvGrpSpPr>
        <p:cNvPr id="1" name=""/>
        <p:cNvGrpSpPr/>
        <p:nvPr/>
      </p:nvGrpSpPr>
      <p:grpSpPr>
        <a:xfrm>
          <a:off x="0" y="0"/>
          <a:ext cx="0" cy="0"/>
          <a:chOff x="0" y="0"/>
          <a:chExt cx="0" cy="0"/>
        </a:xfrm>
      </p:grpSpPr>
      <p:sp>
        <p:nvSpPr>
          <p:cNvPr id="6" name="Shape 2"/>
          <p:cNvSpPr/>
          <p:nvPr/>
        </p:nvSpPr>
        <p:spPr>
          <a:xfrm>
            <a:off x="320040" y="822172"/>
            <a:ext cx="1645920" cy="329184"/>
          </a:xfrm>
          <a:prstGeom prst="roundRect">
            <a:avLst>
              <a:gd name="adj" fmla="val 13889"/>
            </a:avLst>
          </a:prstGeom>
          <a:solidFill>
            <a:srgbClr val="00E676">
              <a:alpha val="20000"/>
            </a:srgbClr>
          </a:solidFill>
          <a:ln w="12700">
            <a:solidFill>
              <a:srgbClr val="00E676"/>
            </a:solidFill>
            <a:prstDash val="solid"/>
          </a:ln>
        </p:spPr>
      </p:sp>
      <p:sp>
        <p:nvSpPr>
          <p:cNvPr id="4" name="Shape 0"/>
          <p:cNvSpPr/>
          <p:nvPr/>
        </p:nvSpPr>
        <p:spPr>
          <a:xfrm>
            <a:off x="0" y="307195"/>
            <a:ext cx="9144000" cy="1024128"/>
          </a:xfrm>
          <a:prstGeom prst="rect">
            <a:avLst/>
          </a:prstGeom>
          <a:solidFill>
            <a:srgbClr val="141B2D"/>
          </a:solidFill>
          <a:ln w="12700">
            <a:solidFill>
              <a:srgbClr val="1E2D4A"/>
            </a:solidFill>
            <a:prstDash val="solid"/>
          </a:ln>
        </p:spPr>
      </p:sp>
      <p:pic>
        <p:nvPicPr>
          <p:cNvPr id="2" name="Image 0" descr="preencoded.png"/>
          <p:cNvPicPr>
            <a:picLocks noChangeAspect="1"/>
          </p:cNvPicPr>
          <p:nvPr/>
        </p:nvPicPr>
        <p:blipFill>
          <a:blip r:embed="rId3"/>
          <a:stretch>
            <a:fillRect/>
          </a:stretch>
        </p:blipFill>
        <p:spPr>
          <a:xfrm>
            <a:off x="109728" y="73152"/>
            <a:ext cx="658368" cy="658368"/>
          </a:xfrm>
          <a:prstGeom prst="ellipse">
            <a:avLst/>
          </a:prstGeom>
        </p:spPr>
      </p:pic>
      <p:pic>
        <p:nvPicPr>
          <p:cNvPr id="3" name="Image 1" descr="preencoded.png"/>
          <p:cNvPicPr>
            <a:picLocks noChangeAspect="1"/>
          </p:cNvPicPr>
          <p:nvPr/>
        </p:nvPicPr>
        <p:blipFill>
          <a:blip r:embed="rId4"/>
          <a:stretch>
            <a:fillRect/>
          </a:stretch>
        </p:blipFill>
        <p:spPr>
          <a:xfrm>
            <a:off x="8375904" y="73152"/>
            <a:ext cx="658368" cy="658368"/>
          </a:xfrm>
          <a:prstGeom prst="rect">
            <a:avLst/>
          </a:prstGeom>
        </p:spPr>
      </p:pic>
      <p:sp>
        <p:nvSpPr>
          <p:cNvPr id="5" name="Shape 1"/>
          <p:cNvSpPr/>
          <p:nvPr/>
        </p:nvSpPr>
        <p:spPr>
          <a:xfrm>
            <a:off x="0" y="0"/>
            <a:ext cx="9144000" cy="54864"/>
          </a:xfrm>
          <a:prstGeom prst="rect">
            <a:avLst/>
          </a:prstGeom>
          <a:solidFill>
            <a:srgbClr val="00E676"/>
          </a:solidFill>
          <a:ln w="12700">
            <a:solidFill>
              <a:srgbClr val="00E676"/>
            </a:solidFill>
            <a:prstDash val="solid"/>
          </a:ln>
        </p:spPr>
      </p:sp>
      <p:sp>
        <p:nvSpPr>
          <p:cNvPr id="7" name="Text 3"/>
          <p:cNvSpPr/>
          <p:nvPr/>
        </p:nvSpPr>
        <p:spPr>
          <a:xfrm>
            <a:off x="365760" y="201168"/>
            <a:ext cx="1645920" cy="329184"/>
          </a:xfrm>
          <a:prstGeom prst="rect">
            <a:avLst/>
          </a:prstGeom>
          <a:noFill/>
          <a:ln/>
        </p:spPr>
        <p:txBody>
          <a:bodyPr wrap="square" lIns="91440" tIns="45720" rIns="91440" bIns="45720" rtlCol="0" anchor="ctr"/>
          <a:lstStyle/>
          <a:p>
            <a:pPr marL="0" indent="0" algn="ctr">
              <a:buNone/>
            </a:pPr>
            <a:endParaRPr lang="en-US" sz="1000" b="1" kern="0" spc="200" dirty="0">
              <a:solidFill>
                <a:srgbClr val="00E676"/>
              </a:solidFill>
              <a:ea typeface="Calibri"/>
              <a:cs typeface="Calibri"/>
            </a:endParaRPr>
          </a:p>
        </p:txBody>
      </p:sp>
      <p:sp>
        <p:nvSpPr>
          <p:cNvPr id="8" name="Text 4"/>
          <p:cNvSpPr/>
          <p:nvPr/>
        </p:nvSpPr>
        <p:spPr>
          <a:xfrm>
            <a:off x="2634343" y="411480"/>
            <a:ext cx="6400800" cy="640080"/>
          </a:xfrm>
          <a:prstGeom prst="rect">
            <a:avLst/>
          </a:prstGeom>
          <a:noFill/>
          <a:ln/>
        </p:spPr>
        <p:txBody>
          <a:bodyPr wrap="square" rtlCol="0" anchor="ctr"/>
          <a:lstStyle/>
          <a:p>
            <a:pPr marL="0" indent="0">
              <a:buNone/>
            </a:pPr>
            <a:r>
              <a:rPr lang="en-US" sz="2600" b="1" dirty="0">
                <a:solidFill>
                  <a:srgbClr val="F1F5FB"/>
                </a:solidFill>
                <a:latin typeface="Calibri" pitchFamily="34" charset="0"/>
                <a:ea typeface="Calibri" pitchFamily="34" charset="-122"/>
                <a:cs typeface="Calibri" pitchFamily="34" charset="-120"/>
              </a:rPr>
              <a:t>Proposed Solution</a:t>
            </a:r>
            <a:endParaRPr lang="en-US" sz="2600" dirty="0"/>
          </a:p>
        </p:txBody>
      </p:sp>
      <p:sp>
        <p:nvSpPr>
          <p:cNvPr id="9" name="Text 5"/>
          <p:cNvSpPr/>
          <p:nvPr/>
        </p:nvSpPr>
        <p:spPr>
          <a:xfrm>
            <a:off x="2286000" y="713232"/>
            <a:ext cx="6400800" cy="320040"/>
          </a:xfrm>
          <a:prstGeom prst="rect">
            <a:avLst/>
          </a:prstGeom>
          <a:noFill/>
          <a:ln/>
        </p:spPr>
        <p:txBody>
          <a:bodyPr wrap="square" lIns="91440" tIns="45720" rIns="91440" bIns="45720" rtlCol="0" anchor="ctr"/>
          <a:lstStyle/>
          <a:p>
            <a:pPr marL="0" indent="0">
              <a:buNone/>
            </a:pPr>
            <a:endParaRPr lang="en-US" sz="1100" dirty="0">
              <a:solidFill>
                <a:srgbClr val="8892A4"/>
              </a:solidFill>
              <a:ea typeface="Calibri"/>
              <a:cs typeface="Calibri"/>
            </a:endParaRPr>
          </a:p>
        </p:txBody>
      </p:sp>
      <p:sp>
        <p:nvSpPr>
          <p:cNvPr id="10" name="Shape 6"/>
          <p:cNvSpPr/>
          <p:nvPr/>
        </p:nvSpPr>
        <p:spPr>
          <a:xfrm>
            <a:off x="365760" y="1280160"/>
            <a:ext cx="4114800" cy="1554480"/>
          </a:xfrm>
          <a:prstGeom prst="roundRect">
            <a:avLst>
              <a:gd name="adj" fmla="val 5882"/>
            </a:avLst>
          </a:prstGeom>
          <a:solidFill>
            <a:srgbClr val="1A2340"/>
          </a:solidFill>
          <a:ln w="12700">
            <a:solidFill>
              <a:srgbClr val="6C63FF"/>
            </a:solidFill>
            <a:prstDash val="solid"/>
          </a:ln>
        </p:spPr>
      </p:sp>
      <p:sp>
        <p:nvSpPr>
          <p:cNvPr id="11" name="Shape 7"/>
          <p:cNvSpPr/>
          <p:nvPr/>
        </p:nvSpPr>
        <p:spPr>
          <a:xfrm>
            <a:off x="365760" y="1280160"/>
            <a:ext cx="4114800" cy="365760"/>
          </a:xfrm>
          <a:prstGeom prst="roundRect">
            <a:avLst>
              <a:gd name="adj" fmla="val 25000"/>
            </a:avLst>
          </a:prstGeom>
          <a:solidFill>
            <a:srgbClr val="6C63FF">
              <a:alpha val="25000"/>
            </a:srgbClr>
          </a:solidFill>
          <a:ln w="12700">
            <a:solidFill>
              <a:srgbClr val="6C63FF"/>
            </a:solidFill>
            <a:prstDash val="solid"/>
          </a:ln>
        </p:spPr>
      </p:sp>
      <p:sp>
        <p:nvSpPr>
          <p:cNvPr id="12" name="Text 8"/>
          <p:cNvSpPr/>
          <p:nvPr/>
        </p:nvSpPr>
        <p:spPr>
          <a:xfrm>
            <a:off x="548640" y="1325880"/>
            <a:ext cx="3749040" cy="347472"/>
          </a:xfrm>
          <a:prstGeom prst="rect">
            <a:avLst/>
          </a:prstGeom>
          <a:noFill/>
          <a:ln/>
        </p:spPr>
        <p:txBody>
          <a:bodyPr wrap="square" lIns="91440" tIns="45720" rIns="91440" bIns="45720" rtlCol="0" anchor="ctr"/>
          <a:lstStyle/>
          <a:p>
            <a:r>
              <a:rPr lang="en-US" sz="1400">
                <a:solidFill>
                  <a:srgbClr val="6C63FF"/>
                </a:solidFill>
                <a:ea typeface="+mn-lt"/>
                <a:cs typeface="+mn-lt"/>
              </a:rPr>
              <a:t>Main Solution</a:t>
            </a:r>
            <a:endParaRPr lang="en-US"/>
          </a:p>
        </p:txBody>
      </p:sp>
      <p:sp>
        <p:nvSpPr>
          <p:cNvPr id="13" name="Text 9"/>
          <p:cNvSpPr/>
          <p:nvPr/>
        </p:nvSpPr>
        <p:spPr>
          <a:xfrm>
            <a:off x="548640" y="1783080"/>
            <a:ext cx="3749040" cy="822960"/>
          </a:xfrm>
          <a:prstGeom prst="rect">
            <a:avLst/>
          </a:prstGeom>
          <a:noFill/>
          <a:ln/>
        </p:spPr>
        <p:txBody>
          <a:bodyPr wrap="square" lIns="91440" tIns="45720" rIns="91440" bIns="45720" rtlCol="0" anchor="ctr"/>
          <a:lstStyle/>
          <a:p>
            <a:pPr marL="285750" indent="-285750">
              <a:buFont typeface="Arial"/>
              <a:buChar char="•"/>
            </a:pPr>
            <a:r>
              <a:rPr lang="en-US" sz="1200">
                <a:solidFill>
                  <a:srgbClr val="8892A4"/>
                </a:solidFill>
                <a:ea typeface="+mn-lt"/>
                <a:cs typeface="+mn-lt"/>
              </a:rPr>
              <a:t>Manual &amp; automation testing for Booking website.</a:t>
            </a:r>
            <a:endParaRPr lang="en-US"/>
          </a:p>
          <a:p>
            <a:pPr marL="285750" indent="-285750">
              <a:buFont typeface="Arial"/>
              <a:buChar char="•"/>
            </a:pPr>
            <a:r>
              <a:rPr lang="en-US" sz="1200">
                <a:solidFill>
                  <a:srgbClr val="8892A4"/>
                </a:solidFill>
                <a:ea typeface="+mn-lt"/>
                <a:cs typeface="+mn-lt"/>
              </a:rPr>
              <a:t>API testing for Restful Booker using Postman</a:t>
            </a:r>
            <a:endParaRPr lang="en-US"/>
          </a:p>
          <a:p>
            <a:endParaRPr lang="en-US" sz="1200" dirty="0">
              <a:solidFill>
                <a:srgbClr val="8892A4"/>
              </a:solidFill>
              <a:latin typeface="Calibri"/>
              <a:ea typeface="Calibri"/>
              <a:cs typeface="Calibri"/>
            </a:endParaRPr>
          </a:p>
        </p:txBody>
      </p:sp>
      <p:sp>
        <p:nvSpPr>
          <p:cNvPr id="14" name="Shape 10"/>
          <p:cNvSpPr/>
          <p:nvPr/>
        </p:nvSpPr>
        <p:spPr>
          <a:xfrm>
            <a:off x="4754880" y="1280160"/>
            <a:ext cx="4114800" cy="1554480"/>
          </a:xfrm>
          <a:prstGeom prst="roundRect">
            <a:avLst>
              <a:gd name="adj" fmla="val 5882"/>
            </a:avLst>
          </a:prstGeom>
          <a:solidFill>
            <a:srgbClr val="1A2340"/>
          </a:solidFill>
          <a:ln w="12700">
            <a:solidFill>
              <a:srgbClr val="00E676"/>
            </a:solidFill>
            <a:prstDash val="solid"/>
          </a:ln>
        </p:spPr>
      </p:sp>
      <p:sp>
        <p:nvSpPr>
          <p:cNvPr id="15" name="Shape 11"/>
          <p:cNvSpPr/>
          <p:nvPr/>
        </p:nvSpPr>
        <p:spPr>
          <a:xfrm>
            <a:off x="4754880" y="1280160"/>
            <a:ext cx="4114800" cy="365760"/>
          </a:xfrm>
          <a:prstGeom prst="roundRect">
            <a:avLst>
              <a:gd name="adj" fmla="val 25000"/>
            </a:avLst>
          </a:prstGeom>
          <a:solidFill>
            <a:srgbClr val="00E676">
              <a:alpha val="25000"/>
            </a:srgbClr>
          </a:solidFill>
          <a:ln w="12700">
            <a:solidFill>
              <a:srgbClr val="00E676"/>
            </a:solidFill>
            <a:prstDash val="solid"/>
          </a:ln>
        </p:spPr>
      </p:sp>
      <p:sp>
        <p:nvSpPr>
          <p:cNvPr id="16" name="Text 12"/>
          <p:cNvSpPr/>
          <p:nvPr/>
        </p:nvSpPr>
        <p:spPr>
          <a:xfrm>
            <a:off x="4937760" y="1325880"/>
            <a:ext cx="3749040" cy="347472"/>
          </a:xfrm>
          <a:prstGeom prst="rect">
            <a:avLst/>
          </a:prstGeom>
          <a:noFill/>
          <a:ln/>
        </p:spPr>
        <p:txBody>
          <a:bodyPr wrap="square" lIns="91440" tIns="45720" rIns="91440" bIns="45720" rtlCol="0" anchor="ctr"/>
          <a:lstStyle/>
          <a:p>
            <a:pPr marL="0" indent="0">
              <a:buNone/>
            </a:pPr>
            <a:r>
              <a:rPr lang="en-US" sz="1400">
                <a:solidFill>
                  <a:srgbClr val="00E676"/>
                </a:solidFill>
                <a:ea typeface="+mn-lt"/>
                <a:cs typeface="+mn-lt"/>
              </a:rPr>
              <a:t>Advantages</a:t>
            </a:r>
            <a:endParaRPr lang="en-US"/>
          </a:p>
        </p:txBody>
      </p:sp>
      <p:sp>
        <p:nvSpPr>
          <p:cNvPr id="17" name="Text 13"/>
          <p:cNvSpPr/>
          <p:nvPr/>
        </p:nvSpPr>
        <p:spPr>
          <a:xfrm>
            <a:off x="4937760" y="1891937"/>
            <a:ext cx="3749040" cy="822960"/>
          </a:xfrm>
          <a:prstGeom prst="rect">
            <a:avLst/>
          </a:prstGeom>
          <a:noFill/>
          <a:ln/>
        </p:spPr>
        <p:txBody>
          <a:bodyPr wrap="square" lIns="91440" tIns="45720" rIns="91440" bIns="45720" rtlCol="0" anchor="ctr"/>
          <a:lstStyle/>
          <a:p>
            <a:pPr marL="285750" indent="-285750">
              <a:buFont typeface="Arial"/>
              <a:buChar char="•"/>
            </a:pPr>
            <a:r>
              <a:rPr lang="en-US" sz="1200">
                <a:solidFill>
                  <a:srgbClr val="8892A4"/>
                </a:solidFill>
                <a:ea typeface="+mn-lt"/>
                <a:cs typeface="+mn-lt"/>
              </a:rPr>
              <a:t>Faster test execution with automation.</a:t>
            </a:r>
            <a:endParaRPr lang="en-US"/>
          </a:p>
          <a:p>
            <a:pPr marL="285750" indent="-285750">
              <a:buFont typeface="Arial"/>
              <a:buChar char="•"/>
            </a:pPr>
            <a:r>
              <a:rPr lang="en-US" sz="1200">
                <a:solidFill>
                  <a:srgbClr val="8892A4"/>
                </a:solidFill>
                <a:ea typeface="+mn-lt"/>
                <a:cs typeface="+mn-lt"/>
              </a:rPr>
              <a:t>Clear defect detection and reporting.</a:t>
            </a:r>
            <a:endParaRPr lang="en-US"/>
          </a:p>
          <a:p>
            <a:pPr marL="285750" indent="-285750">
              <a:buFont typeface="Arial"/>
              <a:buChar char="•"/>
            </a:pPr>
            <a:r>
              <a:rPr lang="en-US" sz="1200">
                <a:solidFill>
                  <a:srgbClr val="8892A4"/>
                </a:solidFill>
                <a:ea typeface="+mn-lt"/>
                <a:cs typeface="+mn-lt"/>
              </a:rPr>
              <a:t>Practical experience with real-world tools</a:t>
            </a:r>
            <a:endParaRPr lang="en-US"/>
          </a:p>
          <a:p>
            <a:pPr marL="0" indent="0">
              <a:buNone/>
            </a:pPr>
            <a:endParaRPr lang="en-US" sz="1200" dirty="0">
              <a:solidFill>
                <a:srgbClr val="8892A4"/>
              </a:solidFill>
              <a:latin typeface="Calibri"/>
              <a:ea typeface="Calibri"/>
              <a:cs typeface="Calibri"/>
            </a:endParaRPr>
          </a:p>
        </p:txBody>
      </p:sp>
      <p:sp>
        <p:nvSpPr>
          <p:cNvPr id="18" name="Shape 14"/>
          <p:cNvSpPr/>
          <p:nvPr/>
        </p:nvSpPr>
        <p:spPr>
          <a:xfrm>
            <a:off x="365760" y="3017520"/>
            <a:ext cx="4114800" cy="1554480"/>
          </a:xfrm>
          <a:prstGeom prst="roundRect">
            <a:avLst>
              <a:gd name="adj" fmla="val 5882"/>
            </a:avLst>
          </a:prstGeom>
          <a:solidFill>
            <a:srgbClr val="1A2340"/>
          </a:solidFill>
          <a:ln w="12700">
            <a:solidFill>
              <a:srgbClr val="4FC3F7"/>
            </a:solidFill>
            <a:prstDash val="solid"/>
          </a:ln>
        </p:spPr>
      </p:sp>
      <p:sp>
        <p:nvSpPr>
          <p:cNvPr id="19" name="Shape 15"/>
          <p:cNvSpPr/>
          <p:nvPr/>
        </p:nvSpPr>
        <p:spPr>
          <a:xfrm>
            <a:off x="365760" y="3017520"/>
            <a:ext cx="4114800" cy="365760"/>
          </a:xfrm>
          <a:prstGeom prst="roundRect">
            <a:avLst>
              <a:gd name="adj" fmla="val 25000"/>
            </a:avLst>
          </a:prstGeom>
          <a:solidFill>
            <a:srgbClr val="4FC3F7">
              <a:alpha val="25000"/>
            </a:srgbClr>
          </a:solidFill>
          <a:ln w="12700">
            <a:solidFill>
              <a:srgbClr val="4FC3F7"/>
            </a:solidFill>
            <a:prstDash val="solid"/>
          </a:ln>
        </p:spPr>
      </p:sp>
      <p:sp>
        <p:nvSpPr>
          <p:cNvPr id="20" name="Text 16"/>
          <p:cNvSpPr/>
          <p:nvPr/>
        </p:nvSpPr>
        <p:spPr>
          <a:xfrm>
            <a:off x="548640" y="3063240"/>
            <a:ext cx="3749040" cy="347472"/>
          </a:xfrm>
          <a:prstGeom prst="rect">
            <a:avLst/>
          </a:prstGeom>
          <a:noFill/>
          <a:ln/>
        </p:spPr>
        <p:txBody>
          <a:bodyPr wrap="square" lIns="91440" tIns="45720" rIns="91440" bIns="45720" rtlCol="0" anchor="ctr"/>
          <a:lstStyle/>
          <a:p>
            <a:r>
              <a:rPr lang="en-US" sz="1400">
                <a:solidFill>
                  <a:srgbClr val="4FC3F7"/>
                </a:solidFill>
                <a:ea typeface="+mn-lt"/>
                <a:cs typeface="+mn-lt"/>
              </a:rPr>
              <a:t>Tools &amp; Stack</a:t>
            </a:r>
            <a:endParaRPr lang="en-US"/>
          </a:p>
        </p:txBody>
      </p:sp>
      <p:sp>
        <p:nvSpPr>
          <p:cNvPr id="21" name="Text 17"/>
          <p:cNvSpPr/>
          <p:nvPr/>
        </p:nvSpPr>
        <p:spPr>
          <a:xfrm>
            <a:off x="548640" y="3607526"/>
            <a:ext cx="3749040" cy="822960"/>
          </a:xfrm>
          <a:prstGeom prst="rect">
            <a:avLst/>
          </a:prstGeom>
          <a:noFill/>
          <a:ln/>
        </p:spPr>
        <p:txBody>
          <a:bodyPr wrap="square" lIns="91440" tIns="45720" rIns="91440" bIns="45720" rtlCol="0" anchor="ctr"/>
          <a:lstStyle/>
          <a:p>
            <a:pPr marL="285750" indent="-285750">
              <a:buFont typeface="Arial"/>
              <a:buChar char="•"/>
            </a:pPr>
            <a:r>
              <a:rPr lang="en-US" sz="1200">
                <a:solidFill>
                  <a:srgbClr val="8892A4"/>
                </a:solidFill>
                <a:ea typeface="+mn-lt"/>
                <a:cs typeface="+mn-lt"/>
              </a:rPr>
              <a:t>Selenium / WebDriver</a:t>
            </a:r>
            <a:endParaRPr lang="en-US"/>
          </a:p>
          <a:p>
            <a:pPr marL="285750" indent="-285750">
              <a:buFont typeface="Arial"/>
              <a:buChar char="•"/>
            </a:pPr>
            <a:r>
              <a:rPr lang="en-US" sz="1200">
                <a:solidFill>
                  <a:srgbClr val="8892A4"/>
                </a:solidFill>
                <a:ea typeface="+mn-lt"/>
                <a:cs typeface="+mn-lt"/>
              </a:rPr>
              <a:t>Postman</a:t>
            </a:r>
            <a:endParaRPr lang="en-US"/>
          </a:p>
          <a:p>
            <a:pPr marL="285750" indent="-285750">
              <a:buFont typeface="Arial"/>
              <a:buChar char="•"/>
            </a:pPr>
            <a:r>
              <a:rPr lang="en-US" sz="1200">
                <a:solidFill>
                  <a:srgbClr val="8892A4"/>
                </a:solidFill>
                <a:ea typeface="+mn-lt"/>
                <a:cs typeface="+mn-lt"/>
              </a:rPr>
              <a:t>Excel for test cases</a:t>
            </a:r>
            <a:endParaRPr lang="en-US"/>
          </a:p>
          <a:p>
            <a:pPr marL="285750" indent="-285750">
              <a:buFont typeface="Arial"/>
              <a:buChar char="•"/>
            </a:pPr>
            <a:r>
              <a:rPr lang="en-US" sz="1200">
                <a:solidFill>
                  <a:srgbClr val="8892A4"/>
                </a:solidFill>
                <a:ea typeface="+mn-lt"/>
                <a:cs typeface="+mn-lt"/>
              </a:rPr>
              <a:t>Java (automation scripts)</a:t>
            </a:r>
            <a:endParaRPr lang="en-US"/>
          </a:p>
          <a:p>
            <a:pPr marL="0" indent="0">
              <a:buNone/>
            </a:pPr>
            <a:endParaRPr lang="en-US" sz="1200" dirty="0">
              <a:solidFill>
                <a:srgbClr val="8892A4"/>
              </a:solidFill>
              <a:latin typeface="Calibri"/>
              <a:ea typeface="Calibri"/>
              <a:cs typeface="Calibri"/>
            </a:endParaRPr>
          </a:p>
        </p:txBody>
      </p:sp>
      <p:sp>
        <p:nvSpPr>
          <p:cNvPr id="22" name="Shape 18"/>
          <p:cNvSpPr/>
          <p:nvPr/>
        </p:nvSpPr>
        <p:spPr>
          <a:xfrm>
            <a:off x="4754880" y="3017520"/>
            <a:ext cx="4114800" cy="1554480"/>
          </a:xfrm>
          <a:prstGeom prst="roundRect">
            <a:avLst>
              <a:gd name="adj" fmla="val 5882"/>
            </a:avLst>
          </a:prstGeom>
          <a:solidFill>
            <a:srgbClr val="1A2340"/>
          </a:solidFill>
          <a:ln w="12700">
            <a:solidFill>
              <a:srgbClr val="FFB300"/>
            </a:solidFill>
            <a:prstDash val="solid"/>
          </a:ln>
        </p:spPr>
      </p:sp>
      <p:sp>
        <p:nvSpPr>
          <p:cNvPr id="23" name="Shape 19"/>
          <p:cNvSpPr/>
          <p:nvPr/>
        </p:nvSpPr>
        <p:spPr>
          <a:xfrm>
            <a:off x="4754880" y="3017520"/>
            <a:ext cx="4114800" cy="365760"/>
          </a:xfrm>
          <a:prstGeom prst="roundRect">
            <a:avLst>
              <a:gd name="adj" fmla="val 25000"/>
            </a:avLst>
          </a:prstGeom>
          <a:solidFill>
            <a:srgbClr val="FFB300">
              <a:alpha val="25000"/>
            </a:srgbClr>
          </a:solidFill>
          <a:ln w="12700">
            <a:solidFill>
              <a:srgbClr val="FFB300"/>
            </a:solidFill>
            <a:prstDash val="solid"/>
          </a:ln>
        </p:spPr>
      </p:sp>
      <p:sp>
        <p:nvSpPr>
          <p:cNvPr id="24" name="Text 20"/>
          <p:cNvSpPr/>
          <p:nvPr/>
        </p:nvSpPr>
        <p:spPr>
          <a:xfrm>
            <a:off x="4937760" y="3063240"/>
            <a:ext cx="3749040" cy="347472"/>
          </a:xfrm>
          <a:prstGeom prst="rect">
            <a:avLst/>
          </a:prstGeom>
          <a:noFill/>
          <a:ln/>
        </p:spPr>
        <p:txBody>
          <a:bodyPr wrap="square" lIns="91440" tIns="45720" rIns="91440" bIns="45720" rtlCol="0" anchor="ctr"/>
          <a:lstStyle/>
          <a:p>
            <a:r>
              <a:rPr lang="en-US" sz="1400">
                <a:solidFill>
                  <a:srgbClr val="FFB300"/>
                </a:solidFill>
                <a:ea typeface="+mn-lt"/>
                <a:cs typeface="+mn-lt"/>
              </a:rPr>
              <a:t>Expected Outcomes</a:t>
            </a:r>
            <a:endParaRPr lang="en-US"/>
          </a:p>
        </p:txBody>
      </p:sp>
      <p:sp>
        <p:nvSpPr>
          <p:cNvPr id="25" name="Text 21"/>
          <p:cNvSpPr/>
          <p:nvPr/>
        </p:nvSpPr>
        <p:spPr>
          <a:xfrm>
            <a:off x="4937760" y="3607526"/>
            <a:ext cx="3749040" cy="822960"/>
          </a:xfrm>
          <a:prstGeom prst="rect">
            <a:avLst/>
          </a:prstGeom>
          <a:noFill/>
          <a:ln/>
        </p:spPr>
        <p:txBody>
          <a:bodyPr wrap="square" lIns="91440" tIns="45720" rIns="91440" bIns="45720" rtlCol="0" anchor="ctr"/>
          <a:lstStyle/>
          <a:p>
            <a:pPr marL="285750" indent="-285750">
              <a:buFont typeface="Arial"/>
              <a:buChar char="•"/>
            </a:pPr>
            <a:r>
              <a:rPr lang="en-US" sz="1200">
                <a:solidFill>
                  <a:srgbClr val="8892A4"/>
                </a:solidFill>
                <a:ea typeface="+mn-lt"/>
                <a:cs typeface="+mn-lt"/>
              </a:rPr>
              <a:t>Reliable test coverage for Booking workflows.</a:t>
            </a:r>
            <a:endParaRPr lang="en-US"/>
          </a:p>
          <a:p>
            <a:pPr marL="285750" indent="-285750">
              <a:buFont typeface="Arial"/>
              <a:buChar char="•"/>
            </a:pPr>
            <a:r>
              <a:rPr lang="en-US" sz="1200">
                <a:solidFill>
                  <a:srgbClr val="8892A4"/>
                </a:solidFill>
                <a:ea typeface="+mn-lt"/>
                <a:cs typeface="+mn-lt"/>
              </a:rPr>
              <a:t>Validated API endpoints with structured cases.</a:t>
            </a:r>
            <a:endParaRPr lang="en-US"/>
          </a:p>
          <a:p>
            <a:pPr marL="285750" indent="-285750">
              <a:buFont typeface="Arial"/>
              <a:buChar char="•"/>
            </a:pPr>
            <a:r>
              <a:rPr lang="en-US" sz="1200" dirty="0">
                <a:solidFill>
                  <a:srgbClr val="8892A4"/>
                </a:solidFill>
                <a:ea typeface="+mn-lt"/>
                <a:cs typeface="+mn-lt"/>
              </a:rPr>
              <a:t>Improved team skills in QA and </a:t>
            </a:r>
            <a:r>
              <a:rPr lang="en-US" sz="1200">
                <a:solidFill>
                  <a:srgbClr val="8892A4"/>
                </a:solidFill>
                <a:ea typeface="+mn-lt"/>
                <a:cs typeface="+mn-lt"/>
              </a:rPr>
              <a:t>automation</a:t>
            </a:r>
            <a:endParaRPr lang="en-US"/>
          </a:p>
          <a:p>
            <a:pPr marL="0" indent="0">
              <a:buNone/>
            </a:pPr>
            <a:endParaRPr lang="en-US" sz="1200" dirty="0">
              <a:solidFill>
                <a:srgbClr val="8892A4"/>
              </a:solidFill>
              <a:latin typeface="Calibri"/>
              <a:ea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9728" y="73152"/>
            <a:ext cx="658368" cy="658368"/>
          </a:xfrm>
          <a:prstGeom prst="ellipse">
            <a:avLst/>
          </a:prstGeom>
        </p:spPr>
      </p:pic>
      <p:pic>
        <p:nvPicPr>
          <p:cNvPr id="3" name="Image 1" descr="preencoded.png"/>
          <p:cNvPicPr>
            <a:picLocks noChangeAspect="1"/>
          </p:cNvPicPr>
          <p:nvPr/>
        </p:nvPicPr>
        <p:blipFill>
          <a:blip r:embed="rId4"/>
          <a:stretch>
            <a:fillRect/>
          </a:stretch>
        </p:blipFill>
        <p:spPr>
          <a:xfrm>
            <a:off x="8375904" y="73152"/>
            <a:ext cx="658368" cy="658368"/>
          </a:xfrm>
          <a:prstGeom prst="rect">
            <a:avLst/>
          </a:prstGeom>
        </p:spPr>
      </p:pic>
      <p:sp>
        <p:nvSpPr>
          <p:cNvPr id="4" name="Text 0"/>
          <p:cNvSpPr/>
          <p:nvPr/>
        </p:nvSpPr>
        <p:spPr>
          <a:xfrm>
            <a:off x="1023256" y="274320"/>
            <a:ext cx="3914503" cy="685800"/>
          </a:xfrm>
          <a:prstGeom prst="rect">
            <a:avLst/>
          </a:prstGeom>
          <a:noFill/>
          <a:ln/>
        </p:spPr>
        <p:txBody>
          <a:bodyPr wrap="square" rtlCol="0" anchor="ctr"/>
          <a:lstStyle/>
          <a:p>
            <a:pPr marL="0" indent="0">
              <a:buNone/>
            </a:pPr>
            <a:r>
              <a:rPr lang="en-US" sz="3600" b="1" dirty="0">
                <a:solidFill>
                  <a:srgbClr val="F1F5FB"/>
                </a:solidFill>
                <a:latin typeface="Calibri" pitchFamily="34" charset="0"/>
                <a:ea typeface="Calibri" pitchFamily="34" charset="-122"/>
                <a:cs typeface="Calibri" pitchFamily="34" charset="-120"/>
              </a:rPr>
              <a:t>System</a:t>
            </a:r>
            <a:endParaRPr lang="en-US" sz="3600" dirty="0"/>
          </a:p>
        </p:txBody>
      </p:sp>
      <p:sp>
        <p:nvSpPr>
          <p:cNvPr id="5" name="Text 1"/>
          <p:cNvSpPr/>
          <p:nvPr/>
        </p:nvSpPr>
        <p:spPr>
          <a:xfrm>
            <a:off x="365760" y="914400"/>
            <a:ext cx="4572000" cy="685800"/>
          </a:xfrm>
          <a:prstGeom prst="rect">
            <a:avLst/>
          </a:prstGeom>
          <a:noFill/>
          <a:ln/>
        </p:spPr>
        <p:txBody>
          <a:bodyPr wrap="square" rtlCol="0" anchor="ctr"/>
          <a:lstStyle/>
          <a:p>
            <a:pPr marL="0" indent="0">
              <a:buNone/>
            </a:pPr>
            <a:r>
              <a:rPr lang="en-US" sz="3600" b="1" dirty="0">
                <a:solidFill>
                  <a:srgbClr val="6C63FF"/>
                </a:solidFill>
                <a:latin typeface="Calibri" pitchFamily="34" charset="0"/>
                <a:ea typeface="Calibri" pitchFamily="34" charset="-122"/>
                <a:cs typeface="Calibri" pitchFamily="34" charset="-120"/>
              </a:rPr>
              <a:t>Design</a:t>
            </a:r>
            <a:endParaRPr lang="en-US" sz="3600" dirty="0"/>
          </a:p>
        </p:txBody>
      </p:sp>
      <p:sp>
        <p:nvSpPr>
          <p:cNvPr id="6" name="Shape 2"/>
          <p:cNvSpPr/>
          <p:nvPr/>
        </p:nvSpPr>
        <p:spPr>
          <a:xfrm>
            <a:off x="365760" y="1920240"/>
            <a:ext cx="2468880" cy="2560320"/>
          </a:xfrm>
          <a:prstGeom prst="roundRect">
            <a:avLst>
              <a:gd name="adj" fmla="val 3704"/>
            </a:avLst>
          </a:prstGeom>
          <a:solidFill>
            <a:srgbClr val="141B2D"/>
          </a:solidFill>
          <a:ln w="19050">
            <a:solidFill>
              <a:srgbClr val="4FC3F7"/>
            </a:solidFill>
            <a:prstDash val="solid"/>
          </a:ln>
        </p:spPr>
      </p:sp>
      <p:sp>
        <p:nvSpPr>
          <p:cNvPr id="7" name="Shape 3"/>
          <p:cNvSpPr/>
          <p:nvPr/>
        </p:nvSpPr>
        <p:spPr>
          <a:xfrm>
            <a:off x="1143000" y="2057400"/>
            <a:ext cx="914400" cy="914400"/>
          </a:xfrm>
          <a:prstGeom prst="ellipse">
            <a:avLst/>
          </a:prstGeom>
          <a:solidFill>
            <a:srgbClr val="4FC3F7">
              <a:alpha val="20000"/>
            </a:srgbClr>
          </a:solidFill>
          <a:ln w="12700">
            <a:solidFill>
              <a:srgbClr val="4FC3F7"/>
            </a:solidFill>
            <a:prstDash val="solid"/>
          </a:ln>
        </p:spPr>
      </p:sp>
      <p:sp>
        <p:nvSpPr>
          <p:cNvPr id="8" name="Text 4"/>
          <p:cNvSpPr/>
          <p:nvPr/>
        </p:nvSpPr>
        <p:spPr>
          <a:xfrm>
            <a:off x="365760" y="3154680"/>
            <a:ext cx="2468880" cy="411480"/>
          </a:xfrm>
          <a:prstGeom prst="rect">
            <a:avLst/>
          </a:prstGeom>
          <a:noFill/>
          <a:ln/>
        </p:spPr>
        <p:txBody>
          <a:bodyPr wrap="square" lIns="91440" tIns="45720" rIns="91440" bIns="45720" rtlCol="0" anchor="ctr"/>
          <a:lstStyle/>
          <a:p>
            <a:pPr algn="ctr"/>
            <a:r>
              <a:rPr lang="en-US" sz="1400" b="1">
                <a:solidFill>
                  <a:srgbClr val="4FC3F7"/>
                </a:solidFill>
                <a:ea typeface="Calibri"/>
                <a:cs typeface="Calibri"/>
              </a:rPr>
              <a:t>Test Planning</a:t>
            </a:r>
          </a:p>
        </p:txBody>
      </p:sp>
      <p:sp>
        <p:nvSpPr>
          <p:cNvPr id="9" name="Text 5"/>
          <p:cNvSpPr/>
          <p:nvPr/>
        </p:nvSpPr>
        <p:spPr>
          <a:xfrm>
            <a:off x="1051560" y="3566160"/>
            <a:ext cx="2468880" cy="640080"/>
          </a:xfrm>
          <a:prstGeom prst="rect">
            <a:avLst/>
          </a:prstGeom>
          <a:noFill/>
          <a:ln/>
        </p:spPr>
        <p:txBody>
          <a:bodyPr wrap="square" lIns="91440" tIns="45720" rIns="91440" bIns="45720" rtlCol="0" anchor="ctr"/>
          <a:lstStyle/>
          <a:p>
            <a:pPr>
              <a:buFont typeface=""/>
              <a:buChar char="•"/>
            </a:pPr>
            <a:r>
              <a:rPr lang="en-US" sz="1200">
                <a:solidFill>
                  <a:schemeClr val="bg1">
                    <a:lumMod val="65000"/>
                  </a:schemeClr>
                </a:solidFill>
              </a:rPr>
              <a:t>   User Stories </a:t>
            </a:r>
            <a:endParaRPr lang="en-US" sz="1200">
              <a:solidFill>
                <a:schemeClr val="bg1">
                  <a:lumMod val="65000"/>
                </a:schemeClr>
              </a:solidFill>
              <a:ea typeface="Calibri"/>
              <a:cs typeface="Calibri"/>
            </a:endParaRPr>
          </a:p>
          <a:p>
            <a:pPr>
              <a:buFont typeface=""/>
              <a:buChar char="•"/>
            </a:pPr>
            <a:r>
              <a:rPr lang="en-US" sz="1200">
                <a:solidFill>
                  <a:schemeClr val="bg1">
                    <a:lumMod val="65000"/>
                  </a:schemeClr>
                </a:solidFill>
              </a:rPr>
              <a:t>   Test Scenarios </a:t>
            </a:r>
            <a:endParaRPr lang="en-US" sz="1200">
              <a:solidFill>
                <a:schemeClr val="bg1">
                  <a:lumMod val="65000"/>
                </a:schemeClr>
              </a:solidFill>
              <a:ea typeface="Calibri"/>
              <a:cs typeface="Calibri"/>
            </a:endParaRPr>
          </a:p>
          <a:p>
            <a:pPr>
              <a:buFont typeface=""/>
              <a:buChar char="•"/>
            </a:pPr>
            <a:r>
              <a:rPr lang="en-US" sz="1200">
                <a:solidFill>
                  <a:schemeClr val="bg1">
                    <a:lumMod val="65000"/>
                  </a:schemeClr>
                </a:solidFill>
              </a:rPr>
              <a:t>   Test Cases </a:t>
            </a:r>
            <a:endParaRPr lang="en-US" sz="1200">
              <a:solidFill>
                <a:schemeClr val="bg1">
                  <a:lumMod val="65000"/>
                </a:schemeClr>
              </a:solidFill>
              <a:ea typeface="Calibri"/>
              <a:cs typeface="Calibri"/>
            </a:endParaRPr>
          </a:p>
          <a:p>
            <a:pPr>
              <a:buFont typeface=""/>
              <a:buChar char="•"/>
            </a:pPr>
            <a:r>
              <a:rPr lang="en-US" sz="1200">
                <a:solidFill>
                  <a:schemeClr val="bg1">
                    <a:lumMod val="65000"/>
                  </a:schemeClr>
                </a:solidFill>
              </a:rPr>
              <a:t>   Test Data</a:t>
            </a:r>
            <a:endParaRPr lang="en-US" sz="1200" dirty="0">
              <a:solidFill>
                <a:schemeClr val="bg1">
                  <a:lumMod val="65000"/>
                </a:schemeClr>
              </a:solidFill>
              <a:ea typeface="Calibri"/>
              <a:cs typeface="Calibri"/>
            </a:endParaRPr>
          </a:p>
        </p:txBody>
      </p:sp>
      <p:sp>
        <p:nvSpPr>
          <p:cNvPr id="10" name="Shape 6"/>
          <p:cNvSpPr/>
          <p:nvPr/>
        </p:nvSpPr>
        <p:spPr>
          <a:xfrm>
            <a:off x="2834640" y="3200400"/>
            <a:ext cx="365760" cy="0"/>
          </a:xfrm>
          <a:prstGeom prst="line">
            <a:avLst/>
          </a:prstGeom>
          <a:noFill/>
          <a:ln w="25400">
            <a:solidFill>
              <a:srgbClr val="1E2D4A"/>
            </a:solidFill>
            <a:prstDash val="solid"/>
          </a:ln>
        </p:spPr>
      </p:sp>
      <p:sp>
        <p:nvSpPr>
          <p:cNvPr id="11" name="Shape 7"/>
          <p:cNvSpPr/>
          <p:nvPr/>
        </p:nvSpPr>
        <p:spPr>
          <a:xfrm>
            <a:off x="3200400" y="1920240"/>
            <a:ext cx="2468880" cy="2560320"/>
          </a:xfrm>
          <a:prstGeom prst="roundRect">
            <a:avLst>
              <a:gd name="adj" fmla="val 3704"/>
            </a:avLst>
          </a:prstGeom>
          <a:solidFill>
            <a:srgbClr val="141B2D"/>
          </a:solidFill>
          <a:ln w="19050">
            <a:solidFill>
              <a:srgbClr val="6C63FF"/>
            </a:solidFill>
            <a:prstDash val="solid"/>
          </a:ln>
        </p:spPr>
      </p:sp>
      <p:sp>
        <p:nvSpPr>
          <p:cNvPr id="12" name="Shape 8"/>
          <p:cNvSpPr/>
          <p:nvPr/>
        </p:nvSpPr>
        <p:spPr>
          <a:xfrm>
            <a:off x="3977640" y="2057400"/>
            <a:ext cx="914400" cy="914400"/>
          </a:xfrm>
          <a:prstGeom prst="ellipse">
            <a:avLst/>
          </a:prstGeom>
          <a:solidFill>
            <a:srgbClr val="6C63FF">
              <a:alpha val="20000"/>
            </a:srgbClr>
          </a:solidFill>
          <a:ln w="12700">
            <a:solidFill>
              <a:srgbClr val="6C63FF"/>
            </a:solidFill>
            <a:prstDash val="solid"/>
          </a:ln>
        </p:spPr>
      </p:sp>
      <p:sp>
        <p:nvSpPr>
          <p:cNvPr id="13" name="Text 9"/>
          <p:cNvSpPr/>
          <p:nvPr/>
        </p:nvSpPr>
        <p:spPr>
          <a:xfrm>
            <a:off x="3200400" y="3154680"/>
            <a:ext cx="2468880" cy="411480"/>
          </a:xfrm>
          <a:prstGeom prst="rect">
            <a:avLst/>
          </a:prstGeom>
          <a:noFill/>
          <a:ln/>
        </p:spPr>
        <p:txBody>
          <a:bodyPr wrap="square" lIns="91440" tIns="45720" rIns="91440" bIns="45720" rtlCol="0" anchor="ctr"/>
          <a:lstStyle/>
          <a:p>
            <a:pPr algn="ctr"/>
            <a:r>
              <a:rPr lang="en-US" sz="1400" b="1" dirty="0">
                <a:solidFill>
                  <a:srgbClr val="6C63FF"/>
                </a:solidFill>
                <a:latin typeface="Calibri"/>
                <a:ea typeface="Calibri"/>
                <a:cs typeface="Calibri"/>
              </a:rPr>
              <a:t>Test Execut</a:t>
            </a:r>
            <a:r>
              <a:rPr lang="en-US" sz="1400" b="1">
                <a:solidFill>
                  <a:srgbClr val="6C63FF"/>
                </a:solidFill>
                <a:latin typeface="Calibri"/>
                <a:ea typeface="Calibri"/>
                <a:cs typeface="Calibri"/>
              </a:rPr>
              <a:t>ion</a:t>
            </a:r>
            <a:endParaRPr lang="en-US" sz="1400" b="1" dirty="0">
              <a:solidFill>
                <a:srgbClr val="6C63FF"/>
              </a:solidFill>
              <a:ea typeface="Calibri"/>
              <a:cs typeface="Calibri"/>
            </a:endParaRPr>
          </a:p>
        </p:txBody>
      </p:sp>
      <p:sp>
        <p:nvSpPr>
          <p:cNvPr id="14" name="Text 10"/>
          <p:cNvSpPr/>
          <p:nvPr/>
        </p:nvSpPr>
        <p:spPr>
          <a:xfrm>
            <a:off x="3380014" y="3566160"/>
            <a:ext cx="2468880" cy="640080"/>
          </a:xfrm>
          <a:prstGeom prst="rect">
            <a:avLst/>
          </a:prstGeom>
          <a:noFill/>
          <a:ln/>
        </p:spPr>
        <p:txBody>
          <a:bodyPr wrap="square" lIns="91440" tIns="45720" rIns="91440" bIns="45720" rtlCol="0" anchor="ctr"/>
          <a:lstStyle/>
          <a:p>
            <a:pPr marL="285750" indent="-285750">
              <a:buFont typeface="Arial"/>
              <a:buChar char="•"/>
            </a:pPr>
            <a:r>
              <a:rPr lang="en-US" sz="1100">
                <a:solidFill>
                  <a:srgbClr val="8892A4"/>
                </a:solidFill>
                <a:ea typeface="+mn-lt"/>
                <a:cs typeface="+mn-lt"/>
              </a:rPr>
              <a:t>Manual Testing </a:t>
            </a:r>
            <a:endParaRPr lang="en-US" sz="1100">
              <a:ea typeface="Calibri"/>
              <a:cs typeface="Calibri"/>
            </a:endParaRPr>
          </a:p>
          <a:p>
            <a:pPr marL="285750" indent="-285750">
              <a:buFont typeface="Arial"/>
              <a:buChar char="•"/>
            </a:pPr>
            <a:r>
              <a:rPr lang="en-US" sz="1100">
                <a:solidFill>
                  <a:srgbClr val="8892A4"/>
                </a:solidFill>
                <a:ea typeface="+mn-lt"/>
                <a:cs typeface="+mn-lt"/>
              </a:rPr>
              <a:t>Automation Testing (Selenium) </a:t>
            </a:r>
            <a:endParaRPr lang="en-US" sz="1100">
              <a:ea typeface="Calibri"/>
              <a:cs typeface="Calibri"/>
            </a:endParaRPr>
          </a:p>
          <a:p>
            <a:pPr marL="285750" indent="-285750">
              <a:buFont typeface="Arial"/>
              <a:buChar char="•"/>
            </a:pPr>
            <a:r>
              <a:rPr lang="en-US" sz="1100">
                <a:solidFill>
                  <a:srgbClr val="8892A4"/>
                </a:solidFill>
                <a:ea typeface="+mn-lt"/>
                <a:cs typeface="+mn-lt"/>
              </a:rPr>
              <a:t>Cross Browser Testing </a:t>
            </a:r>
            <a:endParaRPr lang="en-US" sz="1100">
              <a:ea typeface="Calibri"/>
              <a:cs typeface="Calibri"/>
            </a:endParaRPr>
          </a:p>
          <a:p>
            <a:pPr marL="285750" indent="-285750">
              <a:buFont typeface="Arial"/>
              <a:buChar char="•"/>
            </a:pPr>
            <a:r>
              <a:rPr lang="en-US" sz="1100">
                <a:solidFill>
                  <a:srgbClr val="8892A4"/>
                </a:solidFill>
                <a:ea typeface="+mn-lt"/>
                <a:cs typeface="+mn-lt"/>
              </a:rPr>
              <a:t>API Testing (Postman)</a:t>
            </a:r>
            <a:endParaRPr lang="en-US" sz="1100">
              <a:ea typeface="Calibri" panose="020F0502020204030204"/>
              <a:cs typeface="Calibri" panose="020F0502020204030204"/>
            </a:endParaRPr>
          </a:p>
          <a:p>
            <a:pPr marL="0" indent="0" algn="ctr">
              <a:buNone/>
            </a:pPr>
            <a:endParaRPr lang="en-US" sz="1100" dirty="0">
              <a:solidFill>
                <a:srgbClr val="8892A4"/>
              </a:solidFill>
              <a:ea typeface="Calibri"/>
              <a:cs typeface="Calibri"/>
            </a:endParaRPr>
          </a:p>
        </p:txBody>
      </p:sp>
      <p:sp>
        <p:nvSpPr>
          <p:cNvPr id="15" name="Shape 11"/>
          <p:cNvSpPr/>
          <p:nvPr/>
        </p:nvSpPr>
        <p:spPr>
          <a:xfrm>
            <a:off x="5669280" y="3200400"/>
            <a:ext cx="365760" cy="0"/>
          </a:xfrm>
          <a:prstGeom prst="line">
            <a:avLst/>
          </a:prstGeom>
          <a:noFill/>
          <a:ln w="25400">
            <a:solidFill>
              <a:srgbClr val="1E2D4A"/>
            </a:solidFill>
            <a:prstDash val="solid"/>
          </a:ln>
        </p:spPr>
      </p:sp>
      <p:sp>
        <p:nvSpPr>
          <p:cNvPr id="16" name="Shape 12"/>
          <p:cNvSpPr/>
          <p:nvPr/>
        </p:nvSpPr>
        <p:spPr>
          <a:xfrm>
            <a:off x="6035040" y="1920240"/>
            <a:ext cx="2468880" cy="2560320"/>
          </a:xfrm>
          <a:prstGeom prst="roundRect">
            <a:avLst>
              <a:gd name="adj" fmla="val 3704"/>
            </a:avLst>
          </a:prstGeom>
          <a:solidFill>
            <a:srgbClr val="141B2D"/>
          </a:solidFill>
          <a:ln w="19050">
            <a:solidFill>
              <a:srgbClr val="00E676"/>
            </a:solidFill>
            <a:prstDash val="solid"/>
          </a:ln>
        </p:spPr>
      </p:sp>
      <p:sp>
        <p:nvSpPr>
          <p:cNvPr id="17" name="Shape 13"/>
          <p:cNvSpPr/>
          <p:nvPr/>
        </p:nvSpPr>
        <p:spPr>
          <a:xfrm>
            <a:off x="6812280" y="2057400"/>
            <a:ext cx="914400" cy="914400"/>
          </a:xfrm>
          <a:prstGeom prst="ellipse">
            <a:avLst/>
          </a:prstGeom>
          <a:solidFill>
            <a:srgbClr val="00E676">
              <a:alpha val="20000"/>
            </a:srgbClr>
          </a:solidFill>
          <a:ln w="12700">
            <a:solidFill>
              <a:srgbClr val="00E676"/>
            </a:solidFill>
            <a:prstDash val="solid"/>
          </a:ln>
        </p:spPr>
      </p:sp>
      <p:sp>
        <p:nvSpPr>
          <p:cNvPr id="18" name="Text 14"/>
          <p:cNvSpPr/>
          <p:nvPr/>
        </p:nvSpPr>
        <p:spPr>
          <a:xfrm>
            <a:off x="6035040" y="3154680"/>
            <a:ext cx="2468880" cy="411480"/>
          </a:xfrm>
          <a:prstGeom prst="rect">
            <a:avLst/>
          </a:prstGeom>
          <a:noFill/>
          <a:ln/>
        </p:spPr>
        <p:txBody>
          <a:bodyPr wrap="square" lIns="91440" tIns="45720" rIns="91440" bIns="45720" rtlCol="0" anchor="ctr"/>
          <a:lstStyle/>
          <a:p>
            <a:pPr algn="ctr"/>
            <a:r>
              <a:rPr lang="en-US" sz="1400" b="1" dirty="0">
                <a:solidFill>
                  <a:srgbClr val="00E676"/>
                </a:solidFill>
                <a:ea typeface="Calibri"/>
                <a:cs typeface="Calibri"/>
              </a:rPr>
              <a:t>Defec</a:t>
            </a:r>
            <a:r>
              <a:rPr lang="en-US" sz="1400" b="1">
                <a:solidFill>
                  <a:srgbClr val="00E676"/>
                </a:solidFill>
                <a:ea typeface="Calibri"/>
                <a:cs typeface="Calibri"/>
              </a:rPr>
              <a:t>t Management</a:t>
            </a:r>
            <a:endParaRPr lang="en-US" sz="1400" b="1" dirty="0">
              <a:solidFill>
                <a:srgbClr val="00E676"/>
              </a:solidFill>
              <a:ea typeface="Calibri"/>
              <a:cs typeface="Calibri"/>
            </a:endParaRPr>
          </a:p>
        </p:txBody>
      </p:sp>
      <p:sp>
        <p:nvSpPr>
          <p:cNvPr id="19" name="Text 15"/>
          <p:cNvSpPr/>
          <p:nvPr/>
        </p:nvSpPr>
        <p:spPr>
          <a:xfrm>
            <a:off x="6263640" y="3566160"/>
            <a:ext cx="2468880" cy="640080"/>
          </a:xfrm>
          <a:prstGeom prst="rect">
            <a:avLst/>
          </a:prstGeom>
          <a:noFill/>
          <a:ln/>
        </p:spPr>
        <p:txBody>
          <a:bodyPr wrap="square" lIns="91440" tIns="45720" rIns="91440" bIns="45720" rtlCol="0" anchor="ctr"/>
          <a:lstStyle/>
          <a:p>
            <a:pPr marL="285750" indent="-285750">
              <a:buFont typeface="Arial"/>
              <a:buChar char="•"/>
            </a:pPr>
            <a:r>
              <a:rPr lang="en-US" sz="1100">
                <a:solidFill>
                  <a:srgbClr val="8892A4"/>
                </a:solidFill>
                <a:ea typeface="+mn-lt"/>
                <a:cs typeface="+mn-lt"/>
              </a:rPr>
              <a:t>Bug Reports </a:t>
            </a:r>
            <a:endParaRPr lang="en-US">
              <a:ea typeface="Calibri" panose="020F0502020204030204"/>
              <a:cs typeface="Calibri" panose="020F0502020204030204"/>
            </a:endParaRPr>
          </a:p>
          <a:p>
            <a:pPr marL="285750" indent="-285750">
              <a:buFont typeface="Arial"/>
              <a:buChar char="•"/>
            </a:pPr>
            <a:r>
              <a:rPr lang="en-US" sz="1100">
                <a:solidFill>
                  <a:srgbClr val="8892A4"/>
                </a:solidFill>
                <a:ea typeface="+mn-lt"/>
                <a:cs typeface="+mn-lt"/>
              </a:rPr>
              <a:t>Bug Tracking </a:t>
            </a:r>
            <a:endParaRPr lang="en-US">
              <a:ea typeface="Calibri" panose="020F0502020204030204"/>
              <a:cs typeface="Calibri" panose="020F0502020204030204"/>
            </a:endParaRPr>
          </a:p>
          <a:p>
            <a:pPr marL="285750" indent="-285750">
              <a:buFont typeface="Arial"/>
              <a:buChar char="•"/>
            </a:pPr>
            <a:r>
              <a:rPr lang="en-US" sz="1100">
                <a:solidFill>
                  <a:srgbClr val="8892A4"/>
                </a:solidFill>
                <a:ea typeface="+mn-lt"/>
                <a:cs typeface="+mn-lt"/>
              </a:rPr>
              <a:t>Test Execution Reports </a:t>
            </a:r>
            <a:endParaRPr lang="en-US">
              <a:ea typeface="Calibri" panose="020F0502020204030204"/>
              <a:cs typeface="Calibri" panose="020F0502020204030204"/>
            </a:endParaRPr>
          </a:p>
          <a:p>
            <a:pPr marL="285750" indent="-285750">
              <a:buFont typeface="Arial"/>
              <a:buChar char="•"/>
            </a:pPr>
            <a:r>
              <a:rPr lang="en-US" sz="1100">
                <a:solidFill>
                  <a:srgbClr val="8892A4"/>
                </a:solidFill>
                <a:ea typeface="+mn-lt"/>
                <a:cs typeface="+mn-lt"/>
              </a:rPr>
              <a:t>Test Results Analysis</a:t>
            </a:r>
            <a:endParaRPr lang="en-US">
              <a:ea typeface="Calibri" panose="020F0502020204030204"/>
              <a:cs typeface="Calibri" panose="020F0502020204030204"/>
            </a:endParaRPr>
          </a:p>
          <a:p>
            <a:pPr marL="0" indent="0" algn="ctr">
              <a:buNone/>
            </a:pPr>
            <a:endParaRPr lang="en-US" sz="1100" dirty="0">
              <a:solidFill>
                <a:srgbClr val="8892A4"/>
              </a:solidFill>
              <a:ea typeface="Calibri"/>
              <a:cs typeface="Calibri"/>
            </a:endParaRPr>
          </a:p>
        </p:txBody>
      </p:sp>
      <p:sp>
        <p:nvSpPr>
          <p:cNvPr id="20" name="Shape 16"/>
          <p:cNvSpPr/>
          <p:nvPr/>
        </p:nvSpPr>
        <p:spPr>
          <a:xfrm>
            <a:off x="5349240" y="169743"/>
            <a:ext cx="2926080" cy="1508760"/>
          </a:xfrm>
          <a:prstGeom prst="roundRect">
            <a:avLst>
              <a:gd name="adj" fmla="val 6061"/>
            </a:avLst>
          </a:prstGeom>
          <a:solidFill>
            <a:srgbClr val="141B2D"/>
          </a:solidFill>
          <a:ln w="12700">
            <a:solidFill>
              <a:srgbClr val="1E2D4A"/>
            </a:solidFill>
            <a:prstDash val="solid"/>
          </a:ln>
        </p:spPr>
        <p:txBody>
          <a:bodyPr/>
          <a:lstStyle/>
          <a:p>
            <a:endParaRPr lang="en-US" dirty="0"/>
          </a:p>
        </p:txBody>
      </p:sp>
      <p:sp>
        <p:nvSpPr>
          <p:cNvPr id="21" name="Text 17"/>
          <p:cNvSpPr/>
          <p:nvPr/>
        </p:nvSpPr>
        <p:spPr>
          <a:xfrm>
            <a:off x="6080760" y="365760"/>
            <a:ext cx="2651760" cy="347472"/>
          </a:xfrm>
          <a:prstGeom prst="rect">
            <a:avLst/>
          </a:prstGeom>
          <a:noFill/>
          <a:ln/>
        </p:spPr>
        <p:txBody>
          <a:bodyPr wrap="square" lIns="91440" tIns="45720" rIns="91440" bIns="45720" rtlCol="0" anchor="ctr"/>
          <a:lstStyle/>
          <a:p>
            <a:r>
              <a:rPr lang="en-US" sz="1300" b="1" dirty="0">
                <a:solidFill>
                  <a:srgbClr val="6C63FF"/>
                </a:solidFill>
                <a:latin typeface="Calibri"/>
                <a:ea typeface="Calibri"/>
                <a:cs typeface="Calibri"/>
              </a:rPr>
              <a:t>1. </a:t>
            </a:r>
            <a:r>
              <a:rPr lang="en-US" sz="1300" b="1" dirty="0">
                <a:solidFill>
                  <a:schemeClr val="bg1"/>
                </a:solidFill>
                <a:latin typeface="Calibri"/>
                <a:ea typeface="Calibri"/>
                <a:cs typeface="Calibri"/>
              </a:rPr>
              <a:t>T</a:t>
            </a:r>
            <a:r>
              <a:rPr lang="en-US" sz="1300" b="1" dirty="0">
                <a:solidFill>
                  <a:schemeClr val="bg2"/>
                </a:solidFill>
                <a:latin typeface="Calibri"/>
                <a:ea typeface="Calibri"/>
                <a:cs typeface="Calibri"/>
              </a:rPr>
              <a:t>est </a:t>
            </a:r>
            <a:r>
              <a:rPr lang="en-US" sz="1300" b="1">
                <a:solidFill>
                  <a:schemeClr val="bg2"/>
                </a:solidFill>
                <a:latin typeface="Calibri"/>
                <a:ea typeface="Calibri"/>
                <a:cs typeface="Calibri"/>
              </a:rPr>
              <a:t>Design</a:t>
            </a:r>
            <a:endParaRPr lang="en-US" sz="1300">
              <a:solidFill>
                <a:schemeClr val="bg2"/>
              </a:solidFill>
              <a:ea typeface="Calibri"/>
              <a:cs typeface="Calibri"/>
            </a:endParaRPr>
          </a:p>
        </p:txBody>
      </p:sp>
      <p:sp>
        <p:nvSpPr>
          <p:cNvPr id="22" name="Text 18"/>
          <p:cNvSpPr/>
          <p:nvPr/>
        </p:nvSpPr>
        <p:spPr>
          <a:xfrm>
            <a:off x="6080760" y="777240"/>
            <a:ext cx="2651760" cy="347472"/>
          </a:xfrm>
          <a:prstGeom prst="rect">
            <a:avLst/>
          </a:prstGeom>
          <a:noFill/>
          <a:ln/>
        </p:spPr>
        <p:txBody>
          <a:bodyPr wrap="square" lIns="91440" tIns="45720" rIns="91440" bIns="45720" rtlCol="0" anchor="ctr"/>
          <a:lstStyle/>
          <a:p>
            <a:r>
              <a:rPr lang="en-US" sz="1300" b="1" dirty="0">
                <a:solidFill>
                  <a:srgbClr val="6C63FF"/>
                </a:solidFill>
                <a:latin typeface="Calibri"/>
                <a:ea typeface="Calibri"/>
                <a:cs typeface="Calibri"/>
              </a:rPr>
              <a:t>2. </a:t>
            </a:r>
            <a:r>
              <a:rPr lang="en-US" sz="1300" b="1" dirty="0">
                <a:solidFill>
                  <a:schemeClr val="bg2"/>
                </a:solidFill>
                <a:latin typeface="Calibri"/>
                <a:ea typeface="Calibri"/>
                <a:cs typeface="Calibri"/>
              </a:rPr>
              <a:t>Test Impl</a:t>
            </a:r>
            <a:r>
              <a:rPr lang="en-US" sz="1300" b="1">
                <a:solidFill>
                  <a:schemeClr val="bg2"/>
                </a:solidFill>
                <a:latin typeface="Calibri"/>
                <a:ea typeface="Calibri"/>
                <a:cs typeface="Calibri"/>
              </a:rPr>
              <a:t>ementation</a:t>
            </a:r>
            <a:endParaRPr lang="en-US" sz="1300">
              <a:solidFill>
                <a:schemeClr val="bg2"/>
              </a:solidFill>
              <a:latin typeface="Calibri"/>
              <a:ea typeface="Calibri"/>
              <a:cs typeface="Calibri"/>
            </a:endParaRPr>
          </a:p>
        </p:txBody>
      </p:sp>
      <p:sp>
        <p:nvSpPr>
          <p:cNvPr id="23" name="Text 19"/>
          <p:cNvSpPr/>
          <p:nvPr/>
        </p:nvSpPr>
        <p:spPr>
          <a:xfrm>
            <a:off x="6080760" y="1188720"/>
            <a:ext cx="2651760" cy="347472"/>
          </a:xfrm>
          <a:prstGeom prst="rect">
            <a:avLst/>
          </a:prstGeom>
          <a:noFill/>
          <a:ln/>
        </p:spPr>
        <p:txBody>
          <a:bodyPr wrap="square" lIns="91440" tIns="45720" rIns="91440" bIns="45720" rtlCol="0" anchor="ctr"/>
          <a:lstStyle/>
          <a:p>
            <a:r>
              <a:rPr lang="en-US" sz="1300" b="1">
                <a:solidFill>
                  <a:srgbClr val="6C63FF"/>
                </a:solidFill>
                <a:latin typeface="Calibri"/>
                <a:ea typeface="Calibri"/>
                <a:cs typeface="Calibri"/>
              </a:rPr>
              <a:t>3. </a:t>
            </a:r>
            <a:r>
              <a:rPr lang="en-US" sz="1300" b="1">
                <a:solidFill>
                  <a:schemeClr val="bg2"/>
                </a:solidFill>
                <a:latin typeface="Calibri"/>
                <a:ea typeface="Calibri"/>
                <a:cs typeface="Calibri"/>
              </a:rPr>
              <a:t>Test Report</a:t>
            </a:r>
            <a:endParaRPr lang="en-US" sz="1300">
              <a:solidFill>
                <a:schemeClr val="bg2"/>
              </a:solidFill>
              <a:latin typeface="Calibri"/>
              <a:ea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9728" y="73152"/>
            <a:ext cx="658368" cy="658368"/>
          </a:xfrm>
          <a:prstGeom prst="ellipse">
            <a:avLst/>
          </a:prstGeom>
        </p:spPr>
      </p:pic>
      <p:pic>
        <p:nvPicPr>
          <p:cNvPr id="3" name="Image 1" descr="preencoded.png"/>
          <p:cNvPicPr>
            <a:picLocks noChangeAspect="1"/>
          </p:cNvPicPr>
          <p:nvPr/>
        </p:nvPicPr>
        <p:blipFill>
          <a:blip r:embed="rId4"/>
          <a:stretch>
            <a:fillRect/>
          </a:stretch>
        </p:blipFill>
        <p:spPr>
          <a:xfrm>
            <a:off x="8375904" y="73152"/>
            <a:ext cx="658368" cy="658368"/>
          </a:xfrm>
          <a:prstGeom prst="rect">
            <a:avLst/>
          </a:prstGeom>
        </p:spPr>
      </p:pic>
      <p:sp>
        <p:nvSpPr>
          <p:cNvPr id="4" name="Shape 0"/>
          <p:cNvSpPr/>
          <p:nvPr/>
        </p:nvSpPr>
        <p:spPr>
          <a:xfrm>
            <a:off x="0" y="0"/>
            <a:ext cx="9144000" cy="54864"/>
          </a:xfrm>
          <a:prstGeom prst="rect">
            <a:avLst/>
          </a:prstGeom>
          <a:solidFill>
            <a:srgbClr val="4FC3F7"/>
          </a:solidFill>
          <a:ln w="12700">
            <a:solidFill>
              <a:srgbClr val="4FC3F7"/>
            </a:solidFill>
            <a:prstDash val="solid"/>
          </a:ln>
        </p:spPr>
      </p:sp>
      <p:sp>
        <p:nvSpPr>
          <p:cNvPr id="5" name="Text 1"/>
          <p:cNvSpPr/>
          <p:nvPr/>
        </p:nvSpPr>
        <p:spPr>
          <a:xfrm>
            <a:off x="945930" y="274320"/>
            <a:ext cx="7649429" cy="640080"/>
          </a:xfrm>
          <a:prstGeom prst="rect">
            <a:avLst/>
          </a:prstGeom>
          <a:noFill/>
          <a:ln/>
        </p:spPr>
        <p:txBody>
          <a:bodyPr wrap="square" rtlCol="0" anchor="ctr"/>
          <a:lstStyle/>
          <a:p>
            <a:pPr marL="0" indent="0">
              <a:buNone/>
            </a:pPr>
            <a:r>
              <a:rPr lang="en-US" sz="3400" b="1" dirty="0">
                <a:solidFill>
                  <a:srgbClr val="F1F5FB"/>
                </a:solidFill>
                <a:latin typeface="Calibri" pitchFamily="34" charset="0"/>
                <a:ea typeface="Calibri" pitchFamily="34" charset="-122"/>
                <a:cs typeface="Calibri" pitchFamily="34" charset="-120"/>
              </a:rPr>
              <a:t>Demo &amp;</a:t>
            </a:r>
            <a:endParaRPr lang="en-US" sz="3400" dirty="0"/>
          </a:p>
        </p:txBody>
      </p:sp>
      <p:sp>
        <p:nvSpPr>
          <p:cNvPr id="6" name="Text 2"/>
          <p:cNvSpPr/>
          <p:nvPr/>
        </p:nvSpPr>
        <p:spPr>
          <a:xfrm>
            <a:off x="365760" y="868680"/>
            <a:ext cx="8229600" cy="640080"/>
          </a:xfrm>
          <a:prstGeom prst="rect">
            <a:avLst/>
          </a:prstGeom>
          <a:noFill/>
          <a:ln/>
        </p:spPr>
        <p:txBody>
          <a:bodyPr wrap="square" rtlCol="0" anchor="ctr"/>
          <a:lstStyle/>
          <a:p>
            <a:pPr marL="0" indent="0">
              <a:buNone/>
            </a:pPr>
            <a:r>
              <a:rPr lang="en-US" sz="3400" b="1" dirty="0">
                <a:solidFill>
                  <a:srgbClr val="4FC3F7"/>
                </a:solidFill>
                <a:latin typeface="Calibri" pitchFamily="34" charset="0"/>
                <a:ea typeface="Calibri" pitchFamily="34" charset="-122"/>
                <a:cs typeface="Calibri" pitchFamily="34" charset="-120"/>
              </a:rPr>
              <a:t>Screenshots</a:t>
            </a:r>
            <a:endParaRPr lang="en-US" sz="3400" dirty="0"/>
          </a:p>
        </p:txBody>
      </p:sp>
      <p:sp>
        <p:nvSpPr>
          <p:cNvPr id="7" name="Shape 3"/>
          <p:cNvSpPr/>
          <p:nvPr/>
        </p:nvSpPr>
        <p:spPr>
          <a:xfrm>
            <a:off x="365760" y="1691640"/>
            <a:ext cx="4114800" cy="2560320"/>
          </a:xfrm>
          <a:prstGeom prst="roundRect">
            <a:avLst>
              <a:gd name="adj" fmla="val 3571"/>
            </a:avLst>
          </a:prstGeom>
          <a:solidFill>
            <a:srgbClr val="1A2340"/>
          </a:solidFill>
          <a:ln w="12700">
            <a:solidFill>
              <a:srgbClr val="1E2D4A"/>
            </a:solidFill>
            <a:prstDash val="solid"/>
          </a:ln>
        </p:spPr>
      </p:sp>
      <p:sp>
        <p:nvSpPr>
          <p:cNvPr id="8" name="Text 4"/>
          <p:cNvSpPr/>
          <p:nvPr/>
        </p:nvSpPr>
        <p:spPr>
          <a:xfrm>
            <a:off x="365760" y="1691640"/>
            <a:ext cx="4114800" cy="2560320"/>
          </a:xfrm>
          <a:prstGeom prst="rect">
            <a:avLst/>
          </a:prstGeom>
          <a:noFill/>
          <a:ln/>
        </p:spPr>
        <p:txBody>
          <a:bodyPr wrap="square" rtlCol="0" anchor="ctr"/>
          <a:lstStyle/>
          <a:p>
            <a:pPr marL="0" indent="0" algn="ctr">
              <a:buNone/>
            </a:pPr>
            <a:r>
              <a:rPr lang="en-US" sz="1200" dirty="0">
                <a:solidFill>
                  <a:srgbClr val="8892A4"/>
                </a:solidFill>
                <a:latin typeface="Calibri" pitchFamily="34" charset="0"/>
                <a:ea typeface="Calibri" pitchFamily="34" charset="-122"/>
                <a:cs typeface="Calibri" pitchFamily="34" charset="-120"/>
              </a:rPr>
              <a:t>Screenshot 1</a:t>
            </a:r>
            <a:endParaRPr lang="en-US" sz="1200" dirty="0"/>
          </a:p>
        </p:txBody>
      </p:sp>
      <p:sp>
        <p:nvSpPr>
          <p:cNvPr id="9" name="Shape 5"/>
          <p:cNvSpPr/>
          <p:nvPr/>
        </p:nvSpPr>
        <p:spPr>
          <a:xfrm>
            <a:off x="4663440" y="1691640"/>
            <a:ext cx="4114800" cy="1143000"/>
          </a:xfrm>
          <a:prstGeom prst="roundRect">
            <a:avLst>
              <a:gd name="adj" fmla="val 8000"/>
            </a:avLst>
          </a:prstGeom>
          <a:solidFill>
            <a:srgbClr val="1A2340"/>
          </a:solidFill>
          <a:ln w="12700">
            <a:solidFill>
              <a:srgbClr val="1E2D4A"/>
            </a:solidFill>
            <a:prstDash val="solid"/>
          </a:ln>
        </p:spPr>
      </p:sp>
      <p:sp>
        <p:nvSpPr>
          <p:cNvPr id="10" name="Text 6"/>
          <p:cNvSpPr/>
          <p:nvPr/>
        </p:nvSpPr>
        <p:spPr>
          <a:xfrm>
            <a:off x="4663440" y="1691640"/>
            <a:ext cx="4114800" cy="1143000"/>
          </a:xfrm>
          <a:prstGeom prst="rect">
            <a:avLst/>
          </a:prstGeom>
          <a:noFill/>
          <a:ln/>
        </p:spPr>
        <p:txBody>
          <a:bodyPr wrap="square" rtlCol="0" anchor="ctr"/>
          <a:lstStyle/>
          <a:p>
            <a:pPr marL="0" indent="0" algn="ctr">
              <a:buNone/>
            </a:pPr>
            <a:r>
              <a:rPr lang="en-US" sz="1200" dirty="0">
                <a:solidFill>
                  <a:srgbClr val="8892A4"/>
                </a:solidFill>
                <a:latin typeface="Calibri" pitchFamily="34" charset="0"/>
                <a:ea typeface="Calibri" pitchFamily="34" charset="-122"/>
                <a:cs typeface="Calibri" pitchFamily="34" charset="-120"/>
              </a:rPr>
              <a:t>Screenshot 2</a:t>
            </a:r>
            <a:endParaRPr lang="en-US" sz="1200" dirty="0"/>
          </a:p>
        </p:txBody>
      </p:sp>
      <p:sp>
        <p:nvSpPr>
          <p:cNvPr id="11" name="Shape 7"/>
          <p:cNvSpPr/>
          <p:nvPr/>
        </p:nvSpPr>
        <p:spPr>
          <a:xfrm>
            <a:off x="4663440" y="3017520"/>
            <a:ext cx="4114800" cy="1234440"/>
          </a:xfrm>
          <a:prstGeom prst="roundRect">
            <a:avLst>
              <a:gd name="adj" fmla="val 7407"/>
            </a:avLst>
          </a:prstGeom>
          <a:solidFill>
            <a:srgbClr val="1A2340"/>
          </a:solidFill>
          <a:ln w="12700">
            <a:solidFill>
              <a:srgbClr val="1E2D4A"/>
            </a:solidFill>
            <a:prstDash val="solid"/>
          </a:ln>
        </p:spPr>
      </p:sp>
      <p:sp>
        <p:nvSpPr>
          <p:cNvPr id="12" name="Text 8"/>
          <p:cNvSpPr/>
          <p:nvPr/>
        </p:nvSpPr>
        <p:spPr>
          <a:xfrm>
            <a:off x="4663440" y="3017520"/>
            <a:ext cx="4114800" cy="1234440"/>
          </a:xfrm>
          <a:prstGeom prst="rect">
            <a:avLst/>
          </a:prstGeom>
          <a:noFill/>
          <a:ln/>
        </p:spPr>
        <p:txBody>
          <a:bodyPr wrap="square" rtlCol="0" anchor="ctr"/>
          <a:lstStyle/>
          <a:p>
            <a:pPr marL="0" indent="0" algn="ctr">
              <a:buNone/>
            </a:pPr>
            <a:r>
              <a:rPr lang="en-US" sz="1200" dirty="0">
                <a:solidFill>
                  <a:srgbClr val="8892A4"/>
                </a:solidFill>
                <a:latin typeface="Calibri" pitchFamily="34" charset="0"/>
                <a:ea typeface="Calibri" pitchFamily="34" charset="-122"/>
                <a:cs typeface="Calibri" pitchFamily="34" charset="-120"/>
              </a:rPr>
              <a:t>Screenshot 3</a:t>
            </a:r>
            <a:endParaRPr lang="en-US" sz="1200" dirty="0"/>
          </a:p>
        </p:txBody>
      </p:sp>
      <p:sp>
        <p:nvSpPr>
          <p:cNvPr id="13" name="Text 9"/>
          <p:cNvSpPr/>
          <p:nvPr/>
        </p:nvSpPr>
        <p:spPr>
          <a:xfrm>
            <a:off x="365760" y="4389120"/>
            <a:ext cx="8412480" cy="365760"/>
          </a:xfrm>
          <a:prstGeom prst="rect">
            <a:avLst/>
          </a:prstGeom>
          <a:noFill/>
          <a:ln/>
        </p:spPr>
        <p:txBody>
          <a:bodyPr wrap="square" lIns="91440" tIns="45720" rIns="91440" bIns="45720" rtlCol="0" anchor="ctr"/>
          <a:lstStyle/>
          <a:p>
            <a:pPr marL="0" indent="0" algn="ctr">
              <a:buNone/>
            </a:pPr>
            <a:endParaRPr lang="en-US" sz="1000" dirty="0">
              <a:solidFill>
                <a:srgbClr val="8892A4"/>
              </a:solidFill>
              <a:ea typeface="Calibri"/>
              <a:cs typeface="Calibri"/>
            </a:endParaRPr>
          </a:p>
        </p:txBody>
      </p:sp>
      <p:pic>
        <p:nvPicPr>
          <p:cNvPr id="14" name="Picture 13" descr="A screenshot of a computer program&#10;&#10;AI-generated content may be incorrect.">
            <a:extLst>
              <a:ext uri="{FF2B5EF4-FFF2-40B4-BE49-F238E27FC236}">
                <a16:creationId xmlns:a16="http://schemas.microsoft.com/office/drawing/2014/main" id="{D52BE22B-ABC2-1FAC-C97B-05CF7E251AE2}"/>
              </a:ext>
            </a:extLst>
          </p:cNvPr>
          <p:cNvPicPr>
            <a:picLocks noChangeAspect="1"/>
          </p:cNvPicPr>
          <p:nvPr/>
        </p:nvPicPr>
        <p:blipFill>
          <a:blip r:embed="rId5"/>
          <a:stretch>
            <a:fillRect/>
          </a:stretch>
        </p:blipFill>
        <p:spPr>
          <a:xfrm>
            <a:off x="4659088" y="3019831"/>
            <a:ext cx="4120240" cy="1237439"/>
          </a:xfrm>
          <a:prstGeom prst="rect">
            <a:avLst/>
          </a:prstGeom>
        </p:spPr>
      </p:pic>
      <p:pic>
        <p:nvPicPr>
          <p:cNvPr id="15" name="Picture 14" descr="A screenshot of a computer&#10;&#10;AI-generated content may be incorrect.">
            <a:extLst>
              <a:ext uri="{FF2B5EF4-FFF2-40B4-BE49-F238E27FC236}">
                <a16:creationId xmlns:a16="http://schemas.microsoft.com/office/drawing/2014/main" id="{C6ECC6CA-7D6E-A571-30D5-921BB770913B}"/>
              </a:ext>
            </a:extLst>
          </p:cNvPr>
          <p:cNvPicPr>
            <a:picLocks noChangeAspect="1"/>
          </p:cNvPicPr>
          <p:nvPr/>
        </p:nvPicPr>
        <p:blipFill>
          <a:blip r:embed="rId6"/>
          <a:stretch>
            <a:fillRect/>
          </a:stretch>
        </p:blipFill>
        <p:spPr>
          <a:xfrm>
            <a:off x="4659087" y="1689995"/>
            <a:ext cx="4114798" cy="1137579"/>
          </a:xfrm>
          <a:prstGeom prst="rect">
            <a:avLst/>
          </a:prstGeom>
        </p:spPr>
      </p:pic>
      <p:pic>
        <p:nvPicPr>
          <p:cNvPr id="16" name="Picture 15" descr="A screenshot of a white table with black text&#10;&#10;AI-generated content may be incorrect.">
            <a:extLst>
              <a:ext uri="{FF2B5EF4-FFF2-40B4-BE49-F238E27FC236}">
                <a16:creationId xmlns:a16="http://schemas.microsoft.com/office/drawing/2014/main" id="{E217B6DC-C29F-9C35-AEB4-2360E32B1501}"/>
              </a:ext>
            </a:extLst>
          </p:cNvPr>
          <p:cNvPicPr>
            <a:picLocks noChangeAspect="1"/>
          </p:cNvPicPr>
          <p:nvPr/>
        </p:nvPicPr>
        <p:blipFill>
          <a:blip r:embed="rId7"/>
          <a:stretch>
            <a:fillRect/>
          </a:stretch>
        </p:blipFill>
        <p:spPr>
          <a:xfrm>
            <a:off x="366832" y="1692729"/>
            <a:ext cx="4110481" cy="256902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A"/>
        </a:solidFill>
        <a:effectLst/>
      </p:bgPr>
    </p:bg>
    <p:spTree>
      <p:nvGrpSpPr>
        <p:cNvPr id="1" name=""/>
        <p:cNvGrpSpPr/>
        <p:nvPr/>
      </p:nvGrpSpPr>
      <p:grpSpPr>
        <a:xfrm>
          <a:off x="0" y="0"/>
          <a:ext cx="0" cy="0"/>
          <a:chOff x="0" y="0"/>
          <a:chExt cx="0" cy="0"/>
        </a:xfrm>
      </p:grpSpPr>
      <p:sp>
        <p:nvSpPr>
          <p:cNvPr id="4" name="Shape 0"/>
          <p:cNvSpPr/>
          <p:nvPr/>
        </p:nvSpPr>
        <p:spPr>
          <a:xfrm>
            <a:off x="1360714" y="0"/>
            <a:ext cx="7783286" cy="1005840"/>
          </a:xfrm>
          <a:prstGeom prst="rect">
            <a:avLst/>
          </a:prstGeom>
          <a:solidFill>
            <a:srgbClr val="141B2D"/>
          </a:solidFill>
          <a:ln w="12700">
            <a:solidFill>
              <a:srgbClr val="1E2D4A"/>
            </a:solidFill>
            <a:prstDash val="solid"/>
          </a:ln>
        </p:spPr>
      </p:sp>
      <p:pic>
        <p:nvPicPr>
          <p:cNvPr id="2" name="Image 0" descr="preencoded.png"/>
          <p:cNvPicPr>
            <a:picLocks noChangeAspect="1"/>
          </p:cNvPicPr>
          <p:nvPr/>
        </p:nvPicPr>
        <p:blipFill>
          <a:blip r:embed="rId3"/>
          <a:stretch>
            <a:fillRect/>
          </a:stretch>
        </p:blipFill>
        <p:spPr>
          <a:xfrm>
            <a:off x="109728" y="73152"/>
            <a:ext cx="658368" cy="658368"/>
          </a:xfrm>
          <a:prstGeom prst="ellipse">
            <a:avLst/>
          </a:prstGeom>
        </p:spPr>
      </p:pic>
      <p:pic>
        <p:nvPicPr>
          <p:cNvPr id="3" name="Image 1" descr="preencoded.png"/>
          <p:cNvPicPr>
            <a:picLocks noChangeAspect="1"/>
          </p:cNvPicPr>
          <p:nvPr/>
        </p:nvPicPr>
        <p:blipFill>
          <a:blip r:embed="rId4"/>
          <a:stretch>
            <a:fillRect/>
          </a:stretch>
        </p:blipFill>
        <p:spPr>
          <a:xfrm>
            <a:off x="8375904" y="73152"/>
            <a:ext cx="658368" cy="658368"/>
          </a:xfrm>
          <a:prstGeom prst="rect">
            <a:avLst/>
          </a:prstGeom>
        </p:spPr>
      </p:pic>
      <p:sp>
        <p:nvSpPr>
          <p:cNvPr id="5" name="Shape 1"/>
          <p:cNvSpPr/>
          <p:nvPr/>
        </p:nvSpPr>
        <p:spPr>
          <a:xfrm>
            <a:off x="0" y="0"/>
            <a:ext cx="9144000" cy="54864"/>
          </a:xfrm>
          <a:prstGeom prst="rect">
            <a:avLst/>
          </a:prstGeom>
          <a:solidFill>
            <a:srgbClr val="00E676"/>
          </a:solidFill>
          <a:ln w="12700">
            <a:solidFill>
              <a:srgbClr val="00E676"/>
            </a:solidFill>
            <a:prstDash val="solid"/>
          </a:ln>
        </p:spPr>
      </p:sp>
      <p:sp>
        <p:nvSpPr>
          <p:cNvPr id="6" name="Text 2"/>
          <p:cNvSpPr/>
          <p:nvPr/>
        </p:nvSpPr>
        <p:spPr>
          <a:xfrm>
            <a:off x="1556656" y="137160"/>
            <a:ext cx="7038703" cy="548640"/>
          </a:xfrm>
          <a:prstGeom prst="rect">
            <a:avLst/>
          </a:prstGeom>
          <a:noFill/>
          <a:ln/>
        </p:spPr>
        <p:txBody>
          <a:bodyPr wrap="square" rtlCol="0" anchor="ctr"/>
          <a:lstStyle/>
          <a:p>
            <a:pPr marL="0" indent="0">
              <a:buNone/>
            </a:pPr>
            <a:r>
              <a:rPr lang="en-US" sz="2600" b="1" dirty="0">
                <a:solidFill>
                  <a:srgbClr val="F1F5FB"/>
                </a:solidFill>
                <a:latin typeface="Calibri" pitchFamily="34" charset="0"/>
                <a:ea typeface="Calibri" pitchFamily="34" charset="-122"/>
                <a:cs typeface="Calibri" pitchFamily="34" charset="-120"/>
              </a:rPr>
              <a:t>QA Results Dashboard</a:t>
            </a:r>
            <a:endParaRPr lang="en-US" sz="2600" dirty="0"/>
          </a:p>
        </p:txBody>
      </p:sp>
      <p:sp>
        <p:nvSpPr>
          <p:cNvPr id="7" name="Text 3"/>
          <p:cNvSpPr/>
          <p:nvPr/>
        </p:nvSpPr>
        <p:spPr>
          <a:xfrm>
            <a:off x="1360714" y="621792"/>
            <a:ext cx="3577046" cy="274320"/>
          </a:xfrm>
          <a:prstGeom prst="rect">
            <a:avLst/>
          </a:prstGeom>
          <a:noFill/>
          <a:ln/>
        </p:spPr>
        <p:txBody>
          <a:bodyPr wrap="square" rtlCol="0" anchor="ctr"/>
          <a:lstStyle/>
          <a:p>
            <a:pPr marL="0" indent="0">
              <a:buNone/>
            </a:pPr>
            <a:r>
              <a:rPr lang="en-US" sz="1100" dirty="0">
                <a:solidFill>
                  <a:srgbClr val="8892A4"/>
                </a:solidFill>
                <a:latin typeface="Calibri" pitchFamily="34" charset="0"/>
                <a:ea typeface="Calibri" pitchFamily="34" charset="-122"/>
                <a:cs typeface="Calibri" pitchFamily="34" charset="-120"/>
              </a:rPr>
              <a:t>Testing Team — Final Metrics</a:t>
            </a:r>
            <a:endParaRPr lang="en-US" sz="1100" dirty="0"/>
          </a:p>
        </p:txBody>
      </p:sp>
      <p:sp>
        <p:nvSpPr>
          <p:cNvPr id="8" name="Shape 4"/>
          <p:cNvSpPr/>
          <p:nvPr/>
        </p:nvSpPr>
        <p:spPr>
          <a:xfrm>
            <a:off x="274320" y="1143000"/>
            <a:ext cx="1965960" cy="1371600"/>
          </a:xfrm>
          <a:prstGeom prst="roundRect">
            <a:avLst>
              <a:gd name="adj" fmla="val 6667"/>
            </a:avLst>
          </a:prstGeom>
          <a:solidFill>
            <a:srgbClr val="1A2340"/>
          </a:solidFill>
          <a:ln w="19050">
            <a:solidFill>
              <a:srgbClr val="6C63FF"/>
            </a:solidFill>
            <a:prstDash val="solid"/>
          </a:ln>
        </p:spPr>
      </p:sp>
      <p:sp>
        <p:nvSpPr>
          <p:cNvPr id="9" name="Text 5"/>
          <p:cNvSpPr/>
          <p:nvPr/>
        </p:nvSpPr>
        <p:spPr>
          <a:xfrm>
            <a:off x="274320" y="1234440"/>
            <a:ext cx="1965960" cy="777240"/>
          </a:xfrm>
          <a:prstGeom prst="rect">
            <a:avLst/>
          </a:prstGeom>
          <a:noFill/>
          <a:ln/>
        </p:spPr>
        <p:txBody>
          <a:bodyPr wrap="square" lIns="91440" tIns="45720" rIns="91440" bIns="45720" rtlCol="0" anchor="ctr"/>
          <a:lstStyle/>
          <a:p>
            <a:pPr marL="0" indent="0" algn="ctr">
              <a:buNone/>
            </a:pPr>
            <a:r>
              <a:rPr lang="en-US" sz="4000" b="1">
                <a:solidFill>
                  <a:srgbClr val="6C63FF"/>
                </a:solidFill>
                <a:ea typeface="Calibri"/>
                <a:cs typeface="Calibri"/>
              </a:rPr>
              <a:t>330</a:t>
            </a:r>
            <a:endParaRPr lang="en-US" sz="4000" b="1" dirty="0">
              <a:solidFill>
                <a:srgbClr val="6C63FF"/>
              </a:solidFill>
              <a:ea typeface="Calibri"/>
              <a:cs typeface="Calibri"/>
            </a:endParaRPr>
          </a:p>
        </p:txBody>
      </p:sp>
      <p:sp>
        <p:nvSpPr>
          <p:cNvPr id="10" name="Text 6"/>
          <p:cNvSpPr/>
          <p:nvPr/>
        </p:nvSpPr>
        <p:spPr>
          <a:xfrm>
            <a:off x="274320" y="1965960"/>
            <a:ext cx="1965960" cy="411480"/>
          </a:xfrm>
          <a:prstGeom prst="rect">
            <a:avLst/>
          </a:prstGeom>
          <a:noFill/>
          <a:ln/>
        </p:spPr>
        <p:txBody>
          <a:bodyPr wrap="square" rtlCol="0" anchor="ctr"/>
          <a:lstStyle/>
          <a:p>
            <a:pPr marL="0" indent="0" algn="ctr">
              <a:buNone/>
            </a:pPr>
            <a:r>
              <a:rPr lang="en-US" sz="1000" dirty="0">
                <a:solidFill>
                  <a:srgbClr val="8892A4"/>
                </a:solidFill>
                <a:latin typeface="Calibri" pitchFamily="34" charset="0"/>
                <a:ea typeface="Calibri" pitchFamily="34" charset="-122"/>
                <a:cs typeface="Calibri" pitchFamily="34" charset="-120"/>
              </a:rPr>
              <a:t>Total Test Cases</a:t>
            </a:r>
            <a:endParaRPr lang="en-US" sz="1000" dirty="0"/>
          </a:p>
        </p:txBody>
      </p:sp>
      <p:sp>
        <p:nvSpPr>
          <p:cNvPr id="11" name="Shape 7"/>
          <p:cNvSpPr/>
          <p:nvPr/>
        </p:nvSpPr>
        <p:spPr>
          <a:xfrm>
            <a:off x="2423160" y="1143000"/>
            <a:ext cx="1965960" cy="1371600"/>
          </a:xfrm>
          <a:prstGeom prst="roundRect">
            <a:avLst>
              <a:gd name="adj" fmla="val 6667"/>
            </a:avLst>
          </a:prstGeom>
          <a:solidFill>
            <a:srgbClr val="1A2340"/>
          </a:solidFill>
          <a:ln w="19050">
            <a:solidFill>
              <a:srgbClr val="00E676"/>
            </a:solidFill>
            <a:prstDash val="solid"/>
          </a:ln>
        </p:spPr>
      </p:sp>
      <p:sp>
        <p:nvSpPr>
          <p:cNvPr id="12" name="Text 8"/>
          <p:cNvSpPr/>
          <p:nvPr/>
        </p:nvSpPr>
        <p:spPr>
          <a:xfrm>
            <a:off x="2423160" y="1234440"/>
            <a:ext cx="1965960" cy="777240"/>
          </a:xfrm>
          <a:prstGeom prst="rect">
            <a:avLst/>
          </a:prstGeom>
          <a:noFill/>
          <a:ln/>
        </p:spPr>
        <p:txBody>
          <a:bodyPr wrap="square" lIns="91440" tIns="45720" rIns="91440" bIns="45720" rtlCol="0" anchor="ctr"/>
          <a:lstStyle/>
          <a:p>
            <a:pPr marL="0" indent="0" algn="ctr">
              <a:buNone/>
            </a:pPr>
            <a:r>
              <a:rPr lang="en-US" sz="4000" b="1">
                <a:solidFill>
                  <a:srgbClr val="00E676"/>
                </a:solidFill>
                <a:latin typeface="Calibri"/>
                <a:ea typeface="Calibri"/>
                <a:cs typeface="Calibri"/>
              </a:rPr>
              <a:t>330</a:t>
            </a:r>
            <a:endParaRPr lang="en-US" sz="4000" b="1">
              <a:solidFill>
                <a:srgbClr val="00E676"/>
              </a:solidFill>
              <a:ea typeface="Calibri"/>
              <a:cs typeface="Calibri"/>
            </a:endParaRPr>
          </a:p>
        </p:txBody>
      </p:sp>
      <p:sp>
        <p:nvSpPr>
          <p:cNvPr id="13" name="Text 9"/>
          <p:cNvSpPr/>
          <p:nvPr/>
        </p:nvSpPr>
        <p:spPr>
          <a:xfrm>
            <a:off x="2423160" y="1965960"/>
            <a:ext cx="1965960" cy="411480"/>
          </a:xfrm>
          <a:prstGeom prst="rect">
            <a:avLst/>
          </a:prstGeom>
          <a:noFill/>
          <a:ln/>
        </p:spPr>
        <p:txBody>
          <a:bodyPr wrap="square" rtlCol="0" anchor="ctr"/>
          <a:lstStyle/>
          <a:p>
            <a:pPr marL="0" indent="0" algn="ctr">
              <a:buNone/>
            </a:pPr>
            <a:r>
              <a:rPr lang="en-US" sz="1000" dirty="0">
                <a:solidFill>
                  <a:srgbClr val="8892A4"/>
                </a:solidFill>
                <a:latin typeface="Calibri" pitchFamily="34" charset="0"/>
                <a:ea typeface="Calibri" pitchFamily="34" charset="-122"/>
                <a:cs typeface="Calibri" pitchFamily="34" charset="-120"/>
              </a:rPr>
              <a:t>Passed</a:t>
            </a:r>
            <a:endParaRPr lang="en-US" sz="1000" dirty="0"/>
          </a:p>
        </p:txBody>
      </p:sp>
      <p:sp>
        <p:nvSpPr>
          <p:cNvPr id="14" name="Shape 10"/>
          <p:cNvSpPr/>
          <p:nvPr/>
        </p:nvSpPr>
        <p:spPr>
          <a:xfrm>
            <a:off x="4572000" y="1143000"/>
            <a:ext cx="1965960" cy="1371600"/>
          </a:xfrm>
          <a:prstGeom prst="roundRect">
            <a:avLst>
              <a:gd name="adj" fmla="val 6667"/>
            </a:avLst>
          </a:prstGeom>
          <a:solidFill>
            <a:srgbClr val="1A2340"/>
          </a:solidFill>
          <a:ln w="19050">
            <a:solidFill>
              <a:srgbClr val="FF5252"/>
            </a:solidFill>
            <a:prstDash val="solid"/>
          </a:ln>
        </p:spPr>
      </p:sp>
      <p:sp>
        <p:nvSpPr>
          <p:cNvPr id="15" name="Text 11"/>
          <p:cNvSpPr/>
          <p:nvPr/>
        </p:nvSpPr>
        <p:spPr>
          <a:xfrm>
            <a:off x="4572000" y="1234440"/>
            <a:ext cx="1965960" cy="777240"/>
          </a:xfrm>
          <a:prstGeom prst="rect">
            <a:avLst/>
          </a:prstGeom>
          <a:noFill/>
          <a:ln/>
        </p:spPr>
        <p:txBody>
          <a:bodyPr wrap="square" lIns="91440" tIns="45720" rIns="91440" bIns="45720" rtlCol="0" anchor="ctr"/>
          <a:lstStyle/>
          <a:p>
            <a:pPr marL="0" indent="0" algn="ctr">
              <a:buNone/>
            </a:pPr>
            <a:r>
              <a:rPr lang="en-US" sz="4000" b="1">
                <a:solidFill>
                  <a:srgbClr val="FF5252"/>
                </a:solidFill>
                <a:latin typeface="Calibri"/>
                <a:ea typeface="Calibri"/>
                <a:cs typeface="Calibri"/>
              </a:rPr>
              <a:t>0</a:t>
            </a:r>
            <a:endParaRPr lang="en-US" sz="4000" b="1">
              <a:solidFill>
                <a:srgbClr val="FF5252"/>
              </a:solidFill>
              <a:ea typeface="Calibri"/>
              <a:cs typeface="Calibri"/>
            </a:endParaRPr>
          </a:p>
        </p:txBody>
      </p:sp>
      <p:sp>
        <p:nvSpPr>
          <p:cNvPr id="16" name="Text 12"/>
          <p:cNvSpPr/>
          <p:nvPr/>
        </p:nvSpPr>
        <p:spPr>
          <a:xfrm>
            <a:off x="4572000" y="1965960"/>
            <a:ext cx="1965960" cy="411480"/>
          </a:xfrm>
          <a:prstGeom prst="rect">
            <a:avLst/>
          </a:prstGeom>
          <a:noFill/>
          <a:ln/>
        </p:spPr>
        <p:txBody>
          <a:bodyPr wrap="square" rtlCol="0" anchor="ctr"/>
          <a:lstStyle/>
          <a:p>
            <a:pPr marL="0" indent="0" algn="ctr">
              <a:buNone/>
            </a:pPr>
            <a:r>
              <a:rPr lang="en-US" sz="1000" dirty="0">
                <a:solidFill>
                  <a:srgbClr val="8892A4"/>
                </a:solidFill>
                <a:latin typeface="Calibri" pitchFamily="34" charset="0"/>
                <a:ea typeface="Calibri" pitchFamily="34" charset="-122"/>
                <a:cs typeface="Calibri" pitchFamily="34" charset="-120"/>
              </a:rPr>
              <a:t>Failed</a:t>
            </a:r>
            <a:endParaRPr lang="en-US" sz="1000" dirty="0"/>
          </a:p>
        </p:txBody>
      </p:sp>
      <p:sp>
        <p:nvSpPr>
          <p:cNvPr id="17" name="Shape 13"/>
          <p:cNvSpPr/>
          <p:nvPr/>
        </p:nvSpPr>
        <p:spPr>
          <a:xfrm>
            <a:off x="6720840" y="1143000"/>
            <a:ext cx="1965960" cy="1371600"/>
          </a:xfrm>
          <a:prstGeom prst="roundRect">
            <a:avLst>
              <a:gd name="adj" fmla="val 6667"/>
            </a:avLst>
          </a:prstGeom>
          <a:solidFill>
            <a:srgbClr val="1A2340"/>
          </a:solidFill>
          <a:ln w="19050">
            <a:solidFill>
              <a:srgbClr val="FFB300"/>
            </a:solidFill>
            <a:prstDash val="solid"/>
          </a:ln>
        </p:spPr>
      </p:sp>
      <p:sp>
        <p:nvSpPr>
          <p:cNvPr id="18" name="Text 14"/>
          <p:cNvSpPr/>
          <p:nvPr/>
        </p:nvSpPr>
        <p:spPr>
          <a:xfrm>
            <a:off x="6720840" y="1234440"/>
            <a:ext cx="1965960" cy="777240"/>
          </a:xfrm>
          <a:prstGeom prst="rect">
            <a:avLst/>
          </a:prstGeom>
          <a:noFill/>
          <a:ln/>
        </p:spPr>
        <p:txBody>
          <a:bodyPr wrap="square" lIns="91440" tIns="45720" rIns="91440" bIns="45720" rtlCol="0" anchor="ctr"/>
          <a:lstStyle/>
          <a:p>
            <a:pPr marL="0" indent="0" algn="ctr">
              <a:buNone/>
            </a:pPr>
            <a:r>
              <a:rPr lang="en-US" sz="4000" b="1">
                <a:solidFill>
                  <a:srgbClr val="FFB300"/>
                </a:solidFill>
                <a:latin typeface="Calibri"/>
                <a:ea typeface="Calibri"/>
                <a:cs typeface="Calibri"/>
              </a:rPr>
              <a:t>4</a:t>
            </a:r>
            <a:endParaRPr lang="en-US" sz="4000" b="1">
              <a:solidFill>
                <a:srgbClr val="FFB300"/>
              </a:solidFill>
              <a:ea typeface="Calibri"/>
              <a:cs typeface="Calibri"/>
            </a:endParaRPr>
          </a:p>
        </p:txBody>
      </p:sp>
      <p:sp>
        <p:nvSpPr>
          <p:cNvPr id="19" name="Text 15"/>
          <p:cNvSpPr/>
          <p:nvPr/>
        </p:nvSpPr>
        <p:spPr>
          <a:xfrm>
            <a:off x="6720840" y="1965960"/>
            <a:ext cx="1965960" cy="411480"/>
          </a:xfrm>
          <a:prstGeom prst="rect">
            <a:avLst/>
          </a:prstGeom>
          <a:noFill/>
          <a:ln/>
        </p:spPr>
        <p:txBody>
          <a:bodyPr wrap="square" rtlCol="0" anchor="ctr"/>
          <a:lstStyle/>
          <a:p>
            <a:pPr marL="0" indent="0" algn="ctr">
              <a:buNone/>
            </a:pPr>
            <a:r>
              <a:rPr lang="en-US" sz="1000" dirty="0">
                <a:solidFill>
                  <a:srgbClr val="8892A4"/>
                </a:solidFill>
                <a:latin typeface="Calibri" pitchFamily="34" charset="0"/>
                <a:ea typeface="Calibri" pitchFamily="34" charset="-122"/>
                <a:cs typeface="Calibri" pitchFamily="34" charset="-120"/>
              </a:rPr>
              <a:t>Bugs Found</a:t>
            </a:r>
            <a:endParaRPr lang="en-US" sz="1000" dirty="0"/>
          </a:p>
        </p:txBody>
      </p:sp>
      <p:graphicFrame>
        <p:nvGraphicFramePr>
          <p:cNvPr id="20" name="Chart 0" hidden="1"/>
          <p:cNvGraphicFramePr/>
          <p:nvPr/>
        </p:nvGraphicFramePr>
        <p:xfrm>
          <a:off x="274320" y="2651760"/>
          <a:ext cx="5303520" cy="219456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1" name="Chart 1" hidden="1"/>
          <p:cNvGraphicFramePr/>
          <p:nvPr/>
        </p:nvGraphicFramePr>
        <p:xfrm>
          <a:off x="5669280" y="2651760"/>
          <a:ext cx="3291840" cy="219456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2" name="Chart 21" hidden="1">
            <a:extLst>
              <a:ext uri="{FF2B5EF4-FFF2-40B4-BE49-F238E27FC236}">
                <a16:creationId xmlns:a16="http://schemas.microsoft.com/office/drawing/2014/main" id="{23E1BD3D-ED4D-5B37-3691-FE82EB060528}"/>
              </a:ext>
            </a:extLst>
          </p:cNvPr>
          <p:cNvGraphicFramePr/>
          <p:nvPr>
            <p:extLst>
              <p:ext uri="{D42A27DB-BD31-4B8C-83A1-F6EECF244321}">
                <p14:modId xmlns:p14="http://schemas.microsoft.com/office/powerpoint/2010/main" val="2061122056"/>
              </p:ext>
            </p:extLst>
          </p:nvPr>
        </p:nvGraphicFramePr>
        <p:xfrm>
          <a:off x="865414" y="2512786"/>
          <a:ext cx="4572000" cy="2745242"/>
        </p:xfrm>
        <a:graphic>
          <a:graphicData uri="http://schemas.openxmlformats.org/drawingml/2006/chart">
            <c:chart xmlns:c="http://schemas.openxmlformats.org/drawingml/2006/chart" xmlns:r="http://schemas.openxmlformats.org/officeDocument/2006/relationships" r:id="rId7"/>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1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9728" y="73152"/>
            <a:ext cx="658368" cy="658368"/>
          </a:xfrm>
          <a:prstGeom prst="ellipse">
            <a:avLst/>
          </a:prstGeom>
        </p:spPr>
      </p:pic>
      <p:pic>
        <p:nvPicPr>
          <p:cNvPr id="3" name="Image 1" descr="preencoded.png"/>
          <p:cNvPicPr>
            <a:picLocks noChangeAspect="1"/>
          </p:cNvPicPr>
          <p:nvPr/>
        </p:nvPicPr>
        <p:blipFill>
          <a:blip r:embed="rId4"/>
          <a:stretch>
            <a:fillRect/>
          </a:stretch>
        </p:blipFill>
        <p:spPr>
          <a:xfrm>
            <a:off x="8375904" y="73152"/>
            <a:ext cx="658368" cy="658368"/>
          </a:xfrm>
          <a:prstGeom prst="rect">
            <a:avLst/>
          </a:prstGeom>
        </p:spPr>
      </p:pic>
      <p:sp>
        <p:nvSpPr>
          <p:cNvPr id="4" name="Shape 0"/>
          <p:cNvSpPr/>
          <p:nvPr/>
        </p:nvSpPr>
        <p:spPr>
          <a:xfrm>
            <a:off x="6858000" y="2286000"/>
            <a:ext cx="3657600" cy="3657600"/>
          </a:xfrm>
          <a:prstGeom prst="ellipse">
            <a:avLst/>
          </a:prstGeom>
          <a:solidFill>
            <a:srgbClr val="6C63FF">
              <a:alpha val="8000"/>
            </a:srgbClr>
          </a:solidFill>
          <a:ln w="12700">
            <a:solidFill>
              <a:srgbClr val="6C63FF"/>
            </a:solidFill>
            <a:prstDash val="solid"/>
          </a:ln>
        </p:spPr>
      </p:sp>
      <p:sp>
        <p:nvSpPr>
          <p:cNvPr id="5" name="Shape 1"/>
          <p:cNvSpPr/>
          <p:nvPr/>
        </p:nvSpPr>
        <p:spPr>
          <a:xfrm>
            <a:off x="-1371600" y="-914400"/>
            <a:ext cx="3200400" cy="3200400"/>
          </a:xfrm>
          <a:prstGeom prst="ellipse">
            <a:avLst/>
          </a:prstGeom>
          <a:solidFill>
            <a:srgbClr val="4FC3F7">
              <a:alpha val="10000"/>
            </a:srgbClr>
          </a:solidFill>
          <a:ln w="12700">
            <a:solidFill>
              <a:srgbClr val="4FC3F7"/>
            </a:solidFill>
            <a:prstDash val="solid"/>
          </a:ln>
        </p:spPr>
      </p:sp>
      <p:sp>
        <p:nvSpPr>
          <p:cNvPr id="6" name="Shape 2"/>
          <p:cNvSpPr/>
          <p:nvPr/>
        </p:nvSpPr>
        <p:spPr>
          <a:xfrm>
            <a:off x="365760" y="1371600"/>
            <a:ext cx="3657600" cy="0"/>
          </a:xfrm>
          <a:prstGeom prst="line">
            <a:avLst/>
          </a:prstGeom>
          <a:noFill/>
          <a:ln w="19050">
            <a:solidFill>
              <a:srgbClr val="6C63FF"/>
            </a:solidFill>
            <a:prstDash val="solid"/>
          </a:ln>
        </p:spPr>
      </p:sp>
      <p:sp>
        <p:nvSpPr>
          <p:cNvPr id="7" name="Text 3"/>
          <p:cNvSpPr/>
          <p:nvPr/>
        </p:nvSpPr>
        <p:spPr>
          <a:xfrm>
            <a:off x="768096" y="320040"/>
            <a:ext cx="5084064" cy="685800"/>
          </a:xfrm>
          <a:prstGeom prst="rect">
            <a:avLst/>
          </a:prstGeom>
          <a:noFill/>
          <a:ln/>
        </p:spPr>
        <p:txBody>
          <a:bodyPr wrap="square" rtlCol="0" anchor="ctr"/>
          <a:lstStyle/>
          <a:p>
            <a:pPr marL="0" indent="0">
              <a:buNone/>
            </a:pPr>
            <a:r>
              <a:rPr lang="en-US" sz="3600" b="1" dirty="0">
                <a:solidFill>
                  <a:srgbClr val="F1F5FB"/>
                </a:solidFill>
                <a:latin typeface="Calibri" pitchFamily="34" charset="0"/>
                <a:ea typeface="Calibri" pitchFamily="34" charset="-122"/>
                <a:cs typeface="Calibri" pitchFamily="34" charset="-120"/>
              </a:rPr>
              <a:t>Conclusion</a:t>
            </a:r>
            <a:endParaRPr lang="en-US" sz="3600" dirty="0"/>
          </a:p>
        </p:txBody>
      </p:sp>
      <p:sp>
        <p:nvSpPr>
          <p:cNvPr id="8" name="Shape 4"/>
          <p:cNvSpPr/>
          <p:nvPr/>
        </p:nvSpPr>
        <p:spPr>
          <a:xfrm>
            <a:off x="365760" y="1486989"/>
            <a:ext cx="5303520" cy="868680"/>
          </a:xfrm>
          <a:prstGeom prst="roundRect">
            <a:avLst>
              <a:gd name="adj" fmla="val 8421"/>
            </a:avLst>
          </a:prstGeom>
          <a:solidFill>
            <a:srgbClr val="141B2D"/>
          </a:solidFill>
          <a:ln w="12700">
            <a:solidFill>
              <a:srgbClr val="6C63FF"/>
            </a:solidFill>
            <a:prstDash val="solid"/>
          </a:ln>
        </p:spPr>
      </p:sp>
      <p:sp>
        <p:nvSpPr>
          <p:cNvPr id="9" name="Text 5"/>
          <p:cNvSpPr/>
          <p:nvPr/>
        </p:nvSpPr>
        <p:spPr>
          <a:xfrm>
            <a:off x="594360" y="1581912"/>
            <a:ext cx="1828800" cy="329184"/>
          </a:xfrm>
          <a:prstGeom prst="rect">
            <a:avLst/>
          </a:prstGeom>
          <a:noFill/>
          <a:ln/>
        </p:spPr>
        <p:txBody>
          <a:bodyPr wrap="square" rtlCol="0" anchor="ctr"/>
          <a:lstStyle/>
          <a:p>
            <a:pPr marL="0" indent="0">
              <a:buNone/>
            </a:pPr>
            <a:r>
              <a:rPr lang="en-US" sz="1300" b="1" dirty="0">
                <a:solidFill>
                  <a:srgbClr val="6C63FF"/>
                </a:solidFill>
                <a:latin typeface="Calibri" pitchFamily="34" charset="0"/>
                <a:ea typeface="Calibri" pitchFamily="34" charset="-122"/>
                <a:cs typeface="Calibri" pitchFamily="34" charset="-120"/>
              </a:rPr>
              <a:t>Summary</a:t>
            </a:r>
            <a:endParaRPr lang="en-US" sz="1300" dirty="0"/>
          </a:p>
        </p:txBody>
      </p:sp>
      <p:sp>
        <p:nvSpPr>
          <p:cNvPr id="10" name="Text 6"/>
          <p:cNvSpPr/>
          <p:nvPr/>
        </p:nvSpPr>
        <p:spPr>
          <a:xfrm>
            <a:off x="365760" y="1920240"/>
            <a:ext cx="4754880" cy="320040"/>
          </a:xfrm>
          <a:prstGeom prst="rect">
            <a:avLst/>
          </a:prstGeom>
          <a:noFill/>
          <a:ln/>
        </p:spPr>
        <p:txBody>
          <a:bodyPr wrap="square" lIns="91440" tIns="45720" rIns="91440" bIns="45720" rtlCol="0" anchor="ctr"/>
          <a:lstStyle/>
          <a:p>
            <a:pPr marL="285750" indent="-285750">
              <a:buFont typeface="Arial"/>
              <a:buChar char="•"/>
            </a:pPr>
            <a:r>
              <a:rPr lang="en-US" sz="1100">
                <a:solidFill>
                  <a:srgbClr val="8892A4"/>
                </a:solidFill>
                <a:ea typeface="+mn-lt"/>
                <a:cs typeface="+mn-lt"/>
              </a:rPr>
              <a:t>Manual testing for Booking website.</a:t>
            </a:r>
            <a:endParaRPr lang="en-US"/>
          </a:p>
          <a:p>
            <a:pPr marL="285750" indent="-285750">
              <a:buFont typeface="Arial"/>
              <a:buChar char="•"/>
            </a:pPr>
            <a:r>
              <a:rPr lang="en-US" sz="1100">
                <a:solidFill>
                  <a:srgbClr val="8892A4"/>
                </a:solidFill>
                <a:ea typeface="+mn-lt"/>
                <a:cs typeface="+mn-lt"/>
              </a:rPr>
              <a:t>Automation scripts with Selenium/WebDriver.</a:t>
            </a:r>
            <a:endParaRPr lang="en-US"/>
          </a:p>
          <a:p>
            <a:pPr marL="285750" indent="-285750">
              <a:buFont typeface="Arial"/>
              <a:buChar char="•"/>
            </a:pPr>
            <a:r>
              <a:rPr lang="en-US" sz="1100">
                <a:solidFill>
                  <a:srgbClr val="8892A4"/>
                </a:solidFill>
                <a:ea typeface="+mn-lt"/>
                <a:cs typeface="+mn-lt"/>
              </a:rPr>
              <a:t>API testing for Restful Booker using Postman.</a:t>
            </a:r>
            <a:endParaRPr lang="en-US"/>
          </a:p>
        </p:txBody>
      </p:sp>
      <p:sp>
        <p:nvSpPr>
          <p:cNvPr id="11" name="Shape 7"/>
          <p:cNvSpPr/>
          <p:nvPr/>
        </p:nvSpPr>
        <p:spPr>
          <a:xfrm>
            <a:off x="365760" y="2560320"/>
            <a:ext cx="5303520" cy="868680"/>
          </a:xfrm>
          <a:prstGeom prst="roundRect">
            <a:avLst>
              <a:gd name="adj" fmla="val 8421"/>
            </a:avLst>
          </a:prstGeom>
          <a:solidFill>
            <a:srgbClr val="141B2D"/>
          </a:solidFill>
          <a:ln w="12700">
            <a:solidFill>
              <a:srgbClr val="4FC3F7"/>
            </a:solidFill>
            <a:prstDash val="solid"/>
          </a:ln>
        </p:spPr>
      </p:sp>
      <p:sp>
        <p:nvSpPr>
          <p:cNvPr id="12" name="Text 8"/>
          <p:cNvSpPr/>
          <p:nvPr/>
        </p:nvSpPr>
        <p:spPr>
          <a:xfrm>
            <a:off x="594360" y="2633472"/>
            <a:ext cx="1828800" cy="329184"/>
          </a:xfrm>
          <a:prstGeom prst="rect">
            <a:avLst/>
          </a:prstGeom>
          <a:noFill/>
          <a:ln/>
        </p:spPr>
        <p:txBody>
          <a:bodyPr wrap="square" rtlCol="0" anchor="ctr"/>
          <a:lstStyle/>
          <a:p>
            <a:pPr marL="0" indent="0">
              <a:buNone/>
            </a:pPr>
            <a:r>
              <a:rPr lang="en-US" sz="1300" b="1" dirty="0">
                <a:solidFill>
                  <a:srgbClr val="4FC3F7"/>
                </a:solidFill>
                <a:latin typeface="Calibri" pitchFamily="34" charset="0"/>
                <a:ea typeface="Calibri" pitchFamily="34" charset="-122"/>
                <a:cs typeface="Calibri" pitchFamily="34" charset="-120"/>
              </a:rPr>
              <a:t>Learnings</a:t>
            </a:r>
            <a:endParaRPr lang="en-US" sz="1300" dirty="0"/>
          </a:p>
        </p:txBody>
      </p:sp>
      <p:sp>
        <p:nvSpPr>
          <p:cNvPr id="13" name="Text 9"/>
          <p:cNvSpPr/>
          <p:nvPr/>
        </p:nvSpPr>
        <p:spPr>
          <a:xfrm>
            <a:off x="365760" y="3107871"/>
            <a:ext cx="4754880" cy="320040"/>
          </a:xfrm>
          <a:prstGeom prst="rect">
            <a:avLst/>
          </a:prstGeom>
          <a:noFill/>
          <a:ln/>
        </p:spPr>
        <p:txBody>
          <a:bodyPr wrap="square" lIns="91440" tIns="45720" rIns="91440" bIns="45720" rtlCol="0" anchor="ctr"/>
          <a:lstStyle/>
          <a:p>
            <a:pPr marL="285750" indent="-285750">
              <a:buFont typeface="Arial"/>
              <a:buChar char="•"/>
            </a:pPr>
            <a:r>
              <a:rPr lang="en-US" sz="1100">
                <a:solidFill>
                  <a:srgbClr val="8892A4"/>
                </a:solidFill>
                <a:ea typeface="+mn-lt"/>
                <a:cs typeface="+mn-lt"/>
              </a:rPr>
              <a:t>Difference between manual and automation testing.</a:t>
            </a:r>
            <a:endParaRPr lang="en-US"/>
          </a:p>
          <a:p>
            <a:pPr marL="285750" indent="-285750">
              <a:buFont typeface="Arial"/>
              <a:buChar char="•"/>
            </a:pPr>
            <a:r>
              <a:rPr lang="en-US" sz="1100">
                <a:solidFill>
                  <a:srgbClr val="8892A4"/>
                </a:solidFill>
                <a:ea typeface="+mn-lt"/>
                <a:cs typeface="+mn-lt"/>
              </a:rPr>
              <a:t>Writing clear and structured test cases.</a:t>
            </a:r>
            <a:endParaRPr lang="en-US"/>
          </a:p>
          <a:p>
            <a:pPr marL="285750" indent="-285750">
              <a:buFont typeface="Arial"/>
              <a:buChar char="•"/>
            </a:pPr>
            <a:r>
              <a:rPr lang="en-US" sz="1100">
                <a:solidFill>
                  <a:srgbClr val="8892A4"/>
                </a:solidFill>
                <a:ea typeface="+mn-lt"/>
                <a:cs typeface="+mn-lt"/>
              </a:rPr>
              <a:t>Handling API issues (auth, errors)</a:t>
            </a:r>
            <a:endParaRPr lang="en-US"/>
          </a:p>
          <a:p>
            <a:pPr marL="0" indent="0">
              <a:buNone/>
            </a:pPr>
            <a:endParaRPr lang="en-US" sz="1100" dirty="0">
              <a:solidFill>
                <a:srgbClr val="8892A4"/>
              </a:solidFill>
              <a:latin typeface="Calibri"/>
              <a:ea typeface="Calibri"/>
              <a:cs typeface="Calibri"/>
            </a:endParaRPr>
          </a:p>
        </p:txBody>
      </p:sp>
      <p:sp>
        <p:nvSpPr>
          <p:cNvPr id="14" name="Shape 10"/>
          <p:cNvSpPr/>
          <p:nvPr/>
        </p:nvSpPr>
        <p:spPr>
          <a:xfrm>
            <a:off x="365760" y="3611880"/>
            <a:ext cx="5303520" cy="868680"/>
          </a:xfrm>
          <a:prstGeom prst="roundRect">
            <a:avLst>
              <a:gd name="adj" fmla="val 8421"/>
            </a:avLst>
          </a:prstGeom>
          <a:solidFill>
            <a:srgbClr val="141B2D"/>
          </a:solidFill>
          <a:ln w="12700">
            <a:solidFill>
              <a:srgbClr val="00E676"/>
            </a:solidFill>
            <a:prstDash val="solid"/>
          </a:ln>
        </p:spPr>
      </p:sp>
      <p:sp>
        <p:nvSpPr>
          <p:cNvPr id="15" name="Text 11"/>
          <p:cNvSpPr/>
          <p:nvPr/>
        </p:nvSpPr>
        <p:spPr>
          <a:xfrm>
            <a:off x="594360" y="3685032"/>
            <a:ext cx="1828800" cy="329184"/>
          </a:xfrm>
          <a:prstGeom prst="rect">
            <a:avLst/>
          </a:prstGeom>
          <a:noFill/>
          <a:ln/>
        </p:spPr>
        <p:txBody>
          <a:bodyPr wrap="square" rtlCol="0" anchor="ctr"/>
          <a:lstStyle/>
          <a:p>
            <a:pPr marL="0" indent="0">
              <a:buNone/>
            </a:pPr>
            <a:r>
              <a:rPr lang="en-US" sz="1300" b="1" dirty="0">
                <a:solidFill>
                  <a:srgbClr val="00E676"/>
                </a:solidFill>
                <a:latin typeface="Calibri" pitchFamily="34" charset="0"/>
                <a:ea typeface="Calibri" pitchFamily="34" charset="-122"/>
                <a:cs typeface="Calibri" pitchFamily="34" charset="-120"/>
              </a:rPr>
              <a:t>Future Work</a:t>
            </a:r>
            <a:endParaRPr lang="en-US" sz="1300" dirty="0"/>
          </a:p>
        </p:txBody>
      </p:sp>
      <p:sp>
        <p:nvSpPr>
          <p:cNvPr id="16" name="Text 12"/>
          <p:cNvSpPr/>
          <p:nvPr/>
        </p:nvSpPr>
        <p:spPr>
          <a:xfrm>
            <a:off x="436517" y="4115889"/>
            <a:ext cx="4754880" cy="320040"/>
          </a:xfrm>
          <a:prstGeom prst="rect">
            <a:avLst/>
          </a:prstGeom>
          <a:noFill/>
          <a:ln/>
        </p:spPr>
        <p:txBody>
          <a:bodyPr wrap="square" lIns="91440" tIns="45720" rIns="91440" bIns="45720" rtlCol="0" anchor="ctr"/>
          <a:lstStyle/>
          <a:p>
            <a:pPr marL="285750" indent="-285750">
              <a:buFont typeface="Arial"/>
              <a:buChar char="•"/>
            </a:pPr>
            <a:r>
              <a:rPr lang="en-US" sz="1100">
                <a:solidFill>
                  <a:srgbClr val="8892A4"/>
                </a:solidFill>
                <a:ea typeface="+mn-lt"/>
                <a:cs typeface="+mn-lt"/>
              </a:rPr>
              <a:t>Add performance testing.</a:t>
            </a:r>
            <a:endParaRPr lang="en-US"/>
          </a:p>
          <a:p>
            <a:pPr marL="285750" indent="-285750">
              <a:buFont typeface="Arial"/>
              <a:buChar char="•"/>
            </a:pPr>
            <a:r>
              <a:rPr lang="en-US" sz="1100">
                <a:solidFill>
                  <a:srgbClr val="8892A4"/>
                </a:solidFill>
                <a:ea typeface="+mn-lt"/>
                <a:cs typeface="+mn-lt"/>
              </a:rPr>
              <a:t>Expand automation coverage.</a:t>
            </a:r>
            <a:endParaRPr lang="en-US"/>
          </a:p>
          <a:p>
            <a:pPr marL="285750" indent="-285750">
              <a:buFont typeface="Arial"/>
              <a:buChar char="•"/>
            </a:pPr>
            <a:r>
              <a:rPr lang="en-US" sz="1100">
                <a:solidFill>
                  <a:srgbClr val="8892A4"/>
                </a:solidFill>
                <a:ea typeface="+mn-lt"/>
                <a:cs typeface="+mn-lt"/>
              </a:rPr>
              <a:t>Integrate testing with CI/CD pipeline</a:t>
            </a:r>
            <a:endParaRPr lang="en-US"/>
          </a:p>
          <a:p>
            <a:pPr marL="0" indent="0">
              <a:buNone/>
            </a:pPr>
            <a:endParaRPr lang="en-US" sz="1100" dirty="0">
              <a:solidFill>
                <a:srgbClr val="8892A4"/>
              </a:solidFill>
              <a:ea typeface="Calibri"/>
              <a:cs typeface="Calibri"/>
            </a:endParaRPr>
          </a:p>
        </p:txBody>
      </p:sp>
      <p:sp>
        <p:nvSpPr>
          <p:cNvPr id="17" name="Shape 13"/>
          <p:cNvSpPr/>
          <p:nvPr/>
        </p:nvSpPr>
        <p:spPr>
          <a:xfrm>
            <a:off x="5760720" y="1371600"/>
            <a:ext cx="3108960" cy="3474720"/>
          </a:xfrm>
          <a:prstGeom prst="roundRect">
            <a:avLst>
              <a:gd name="adj" fmla="val 3529"/>
            </a:avLst>
          </a:prstGeom>
          <a:solidFill>
            <a:srgbClr val="1A2340"/>
          </a:solidFill>
          <a:ln w="12700">
            <a:solidFill>
              <a:srgbClr val="6C63FF"/>
            </a:solidFill>
            <a:prstDash val="solid"/>
          </a:ln>
        </p:spPr>
      </p:sp>
      <p:sp>
        <p:nvSpPr>
          <p:cNvPr id="18" name="Text 14"/>
          <p:cNvSpPr/>
          <p:nvPr/>
        </p:nvSpPr>
        <p:spPr>
          <a:xfrm>
            <a:off x="5760720" y="1737360"/>
            <a:ext cx="3108960" cy="594360"/>
          </a:xfrm>
          <a:prstGeom prst="rect">
            <a:avLst/>
          </a:prstGeom>
          <a:noFill/>
          <a:ln/>
        </p:spPr>
        <p:txBody>
          <a:bodyPr wrap="square" rtlCol="0" anchor="ctr"/>
          <a:lstStyle/>
          <a:p>
            <a:pPr marL="0" indent="0" algn="ctr">
              <a:buNone/>
            </a:pPr>
            <a:r>
              <a:rPr lang="en-US" sz="3000" b="1" dirty="0">
                <a:solidFill>
                  <a:srgbClr val="F1F5FB"/>
                </a:solidFill>
                <a:latin typeface="Calibri" pitchFamily="34" charset="0"/>
                <a:ea typeface="Calibri" pitchFamily="34" charset="-122"/>
                <a:cs typeface="Calibri" pitchFamily="34" charset="-120"/>
              </a:rPr>
              <a:t>Thank</a:t>
            </a:r>
            <a:endParaRPr lang="en-US" sz="3000" dirty="0"/>
          </a:p>
        </p:txBody>
      </p:sp>
      <p:sp>
        <p:nvSpPr>
          <p:cNvPr id="19" name="Text 15"/>
          <p:cNvSpPr/>
          <p:nvPr/>
        </p:nvSpPr>
        <p:spPr>
          <a:xfrm>
            <a:off x="5760720" y="2286000"/>
            <a:ext cx="3108960" cy="594360"/>
          </a:xfrm>
          <a:prstGeom prst="rect">
            <a:avLst/>
          </a:prstGeom>
          <a:noFill/>
          <a:ln/>
        </p:spPr>
        <p:txBody>
          <a:bodyPr wrap="square" rtlCol="0" anchor="ctr"/>
          <a:lstStyle/>
          <a:p>
            <a:pPr marL="0" indent="0" algn="ctr">
              <a:buNone/>
            </a:pPr>
            <a:r>
              <a:rPr lang="en-US" sz="3000" b="1" dirty="0">
                <a:solidFill>
                  <a:srgbClr val="6C63FF"/>
                </a:solidFill>
                <a:latin typeface="Calibri" pitchFamily="34" charset="0"/>
                <a:ea typeface="Calibri" pitchFamily="34" charset="-122"/>
                <a:cs typeface="Calibri" pitchFamily="34" charset="-120"/>
              </a:rPr>
              <a:t>You!</a:t>
            </a:r>
            <a:endParaRPr lang="en-US" sz="3000" dirty="0"/>
          </a:p>
        </p:txBody>
      </p:sp>
      <p:sp>
        <p:nvSpPr>
          <p:cNvPr id="20" name="Shape 16"/>
          <p:cNvSpPr/>
          <p:nvPr/>
        </p:nvSpPr>
        <p:spPr>
          <a:xfrm>
            <a:off x="6217920" y="2971800"/>
            <a:ext cx="2194560" cy="0"/>
          </a:xfrm>
          <a:prstGeom prst="line">
            <a:avLst/>
          </a:prstGeom>
          <a:noFill/>
          <a:ln w="6350">
            <a:solidFill>
              <a:srgbClr val="1E2D4A"/>
            </a:solidFill>
            <a:prstDash val="solid"/>
          </a:ln>
        </p:spPr>
      </p:sp>
      <p:sp>
        <p:nvSpPr>
          <p:cNvPr id="21" name="Text 17"/>
          <p:cNvSpPr/>
          <p:nvPr/>
        </p:nvSpPr>
        <p:spPr>
          <a:xfrm>
            <a:off x="5760720" y="3154680"/>
            <a:ext cx="3108960" cy="731520"/>
          </a:xfrm>
          <a:prstGeom prst="rect">
            <a:avLst/>
          </a:prstGeom>
          <a:noFill/>
          <a:ln/>
        </p:spPr>
        <p:txBody>
          <a:bodyPr wrap="square" lIns="91440" tIns="45720" rIns="91440" bIns="45720" rtlCol="0" anchor="ctr"/>
          <a:lstStyle/>
          <a:p>
            <a:pPr algn="ctr"/>
            <a:r>
              <a:rPr lang="en-US" sz="1100">
                <a:solidFill>
                  <a:srgbClr val="8892A4"/>
                </a:solidFill>
                <a:latin typeface="Calibri"/>
                <a:ea typeface="Calibri"/>
                <a:cs typeface="Calibri"/>
              </a:rPr>
              <a:t>Jana Mohamed— Team Leader</a:t>
            </a:r>
            <a:endParaRPr lang="en-US" sz="1100">
              <a:latin typeface="Calibri"/>
              <a:ea typeface="Calibri"/>
              <a:cs typeface="Calibri"/>
            </a:endParaRPr>
          </a:p>
          <a:p>
            <a:pPr marL="0" indent="0" algn="ctr">
              <a:buNone/>
            </a:pPr>
            <a:r>
              <a:rPr lang="en-US" sz="1100" dirty="0">
                <a:solidFill>
                  <a:srgbClr val="8892A4"/>
                </a:solidFill>
                <a:latin typeface="Calibri" pitchFamily="34" charset="0"/>
                <a:ea typeface="Calibri" pitchFamily="34" charset="-122"/>
                <a:cs typeface="Calibri" pitchFamily="34" charset="-120"/>
              </a:rPr>
              <a:t>ITC Graduation Project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344</Words>
  <Application>Microsoft Office PowerPoint</Application>
  <PresentationFormat>On-screen Show (16:9)</PresentationFormat>
  <Paragraphs>130</Paragraphs>
  <Slides>9</Slides>
  <Notes>9</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ITC Graduation Project</dc:title>
  <dc:subject>PptxGenJS Presentation</dc:subject>
  <dc:creator>PptxGenJS</dc:creator>
  <cp:lastModifiedBy>deda sas</cp:lastModifiedBy>
  <cp:revision>304</cp:revision>
  <dcterms:created xsi:type="dcterms:W3CDTF">2026-06-22T16:21:38Z</dcterms:created>
  <dcterms:modified xsi:type="dcterms:W3CDTF">2026-06-28T17:17:17Z</dcterms:modified>
</cp:coreProperties>
</file>